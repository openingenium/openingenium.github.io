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50" r:id="rId1"/>
    <p:sldMasterId id="2147484002" r:id="rId2"/>
  </p:sldMasterIdLst>
  <p:notesMasterIdLst>
    <p:notesMasterId r:id="rId14"/>
  </p:notesMasterIdLst>
  <p:handoutMasterIdLst>
    <p:handoutMasterId r:id="rId15"/>
  </p:handoutMasterIdLst>
  <p:sldIdLst>
    <p:sldId id="329" r:id="rId3"/>
    <p:sldId id="351" r:id="rId4"/>
    <p:sldId id="353" r:id="rId5"/>
    <p:sldId id="352" r:id="rId6"/>
    <p:sldId id="354" r:id="rId7"/>
    <p:sldId id="359" r:id="rId8"/>
    <p:sldId id="355" r:id="rId9"/>
    <p:sldId id="356" r:id="rId10"/>
    <p:sldId id="357" r:id="rId11"/>
    <p:sldId id="358" r:id="rId12"/>
    <p:sldId id="331" r:id="rId13"/>
  </p:sldIdLst>
  <p:sldSz cx="9144000" cy="6858000" type="screen4x3"/>
  <p:notesSz cx="7010400" cy="92964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92A"/>
    <a:srgbClr val="434345"/>
    <a:srgbClr val="5D5D60"/>
    <a:srgbClr val="76777B"/>
    <a:srgbClr val="A5A5A5"/>
    <a:srgbClr val="C8C8C8"/>
    <a:srgbClr val="003D4C"/>
    <a:srgbClr val="0B3D91"/>
    <a:srgbClr val="489FDF"/>
    <a:srgbClr val="00A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0" autoAdjust="0"/>
    <p:restoredTop sz="90984" autoAdjust="0"/>
  </p:normalViewPr>
  <p:slideViewPr>
    <p:cSldViewPr snapToGrid="0" snapToObjects="1">
      <p:cViewPr varScale="1">
        <p:scale>
          <a:sx n="143" d="100"/>
          <a:sy n="143" d="100"/>
        </p:scale>
        <p:origin x="231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swanchr\Documents\Ingenium\Documents\IEEE%20Paper%202023\Data%20-%20Graphs\IEEE_2023_Data_and_Graphs_20220919v2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Ingenium Executions (Simulator and Testbed)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Europa Clipper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'Execution Graphs'!$J$7:$J$48</c:f>
              <c:strCache>
                <c:ptCount val="42"/>
                <c:pt idx="0">
                  <c:v>2019-03</c:v>
                </c:pt>
                <c:pt idx="1">
                  <c:v>2019-04</c:v>
                </c:pt>
                <c:pt idx="2">
                  <c:v>2019-05</c:v>
                </c:pt>
                <c:pt idx="3">
                  <c:v>2019-06</c:v>
                </c:pt>
                <c:pt idx="4">
                  <c:v>2019-07</c:v>
                </c:pt>
                <c:pt idx="5">
                  <c:v>2019-08</c:v>
                </c:pt>
                <c:pt idx="6">
                  <c:v>2019-09</c:v>
                </c:pt>
                <c:pt idx="7">
                  <c:v>2019-10</c:v>
                </c:pt>
                <c:pt idx="8">
                  <c:v>2019-11</c:v>
                </c:pt>
                <c:pt idx="9">
                  <c:v>2019-12</c:v>
                </c:pt>
                <c:pt idx="10">
                  <c:v>2020-01</c:v>
                </c:pt>
                <c:pt idx="11">
                  <c:v>2020-02</c:v>
                </c:pt>
                <c:pt idx="12">
                  <c:v>2020-03</c:v>
                </c:pt>
                <c:pt idx="13">
                  <c:v>2020-04</c:v>
                </c:pt>
                <c:pt idx="14">
                  <c:v>2020-05</c:v>
                </c:pt>
                <c:pt idx="15">
                  <c:v>2020-06</c:v>
                </c:pt>
                <c:pt idx="16">
                  <c:v>2020-07</c:v>
                </c:pt>
                <c:pt idx="17">
                  <c:v>2020-08</c:v>
                </c:pt>
                <c:pt idx="18">
                  <c:v>2020-09</c:v>
                </c:pt>
                <c:pt idx="19">
                  <c:v>2020-10</c:v>
                </c:pt>
                <c:pt idx="20">
                  <c:v>2020-11</c:v>
                </c:pt>
                <c:pt idx="21">
                  <c:v>2020-12</c:v>
                </c:pt>
                <c:pt idx="22">
                  <c:v>2021-01</c:v>
                </c:pt>
                <c:pt idx="23">
                  <c:v>2021-02</c:v>
                </c:pt>
                <c:pt idx="24">
                  <c:v>2021-03</c:v>
                </c:pt>
                <c:pt idx="25">
                  <c:v>2021-04</c:v>
                </c:pt>
                <c:pt idx="26">
                  <c:v>2021-05</c:v>
                </c:pt>
                <c:pt idx="27">
                  <c:v>2021-06</c:v>
                </c:pt>
                <c:pt idx="28">
                  <c:v>2021-07</c:v>
                </c:pt>
                <c:pt idx="29">
                  <c:v>2021-08</c:v>
                </c:pt>
                <c:pt idx="30">
                  <c:v>2021-09</c:v>
                </c:pt>
                <c:pt idx="31">
                  <c:v>2021-10</c:v>
                </c:pt>
                <c:pt idx="32">
                  <c:v>2021-11</c:v>
                </c:pt>
                <c:pt idx="33">
                  <c:v>2021-12</c:v>
                </c:pt>
                <c:pt idx="34">
                  <c:v>2022-01</c:v>
                </c:pt>
                <c:pt idx="35">
                  <c:v>2022-02</c:v>
                </c:pt>
                <c:pt idx="36">
                  <c:v>2022-03</c:v>
                </c:pt>
                <c:pt idx="37">
                  <c:v>2022-04</c:v>
                </c:pt>
                <c:pt idx="38">
                  <c:v>2022-05</c:v>
                </c:pt>
                <c:pt idx="39">
                  <c:v>2022-06</c:v>
                </c:pt>
                <c:pt idx="40">
                  <c:v>2022-07</c:v>
                </c:pt>
                <c:pt idx="41">
                  <c:v>2022-08</c:v>
                </c:pt>
              </c:strCache>
            </c:strRef>
          </c:cat>
          <c:val>
            <c:numRef>
              <c:f>'Execution Graphs'!$M$7:$M$48</c:f>
              <c:numCache>
                <c:formatCode>General</c:formatCode>
                <c:ptCount val="42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5</c:v>
                </c:pt>
                <c:pt idx="7">
                  <c:v>6</c:v>
                </c:pt>
                <c:pt idx="8">
                  <c:v>69</c:v>
                </c:pt>
                <c:pt idx="9">
                  <c:v>81</c:v>
                </c:pt>
                <c:pt idx="10">
                  <c:v>87</c:v>
                </c:pt>
                <c:pt idx="11">
                  <c:v>97</c:v>
                </c:pt>
                <c:pt idx="12">
                  <c:v>100</c:v>
                </c:pt>
                <c:pt idx="13">
                  <c:v>126</c:v>
                </c:pt>
                <c:pt idx="14">
                  <c:v>202</c:v>
                </c:pt>
                <c:pt idx="15">
                  <c:v>287</c:v>
                </c:pt>
                <c:pt idx="16">
                  <c:v>331</c:v>
                </c:pt>
                <c:pt idx="17">
                  <c:v>405</c:v>
                </c:pt>
                <c:pt idx="18">
                  <c:v>466</c:v>
                </c:pt>
                <c:pt idx="19">
                  <c:v>611</c:v>
                </c:pt>
                <c:pt idx="20">
                  <c:v>723</c:v>
                </c:pt>
                <c:pt idx="21">
                  <c:v>782</c:v>
                </c:pt>
                <c:pt idx="22">
                  <c:v>871</c:v>
                </c:pt>
                <c:pt idx="23">
                  <c:v>992</c:v>
                </c:pt>
                <c:pt idx="24">
                  <c:v>1110</c:v>
                </c:pt>
                <c:pt idx="25">
                  <c:v>1188</c:v>
                </c:pt>
                <c:pt idx="26">
                  <c:v>1290</c:v>
                </c:pt>
                <c:pt idx="27">
                  <c:v>1711</c:v>
                </c:pt>
                <c:pt idx="28">
                  <c:v>1880</c:v>
                </c:pt>
                <c:pt idx="29">
                  <c:v>2088</c:v>
                </c:pt>
                <c:pt idx="30">
                  <c:v>2249</c:v>
                </c:pt>
                <c:pt idx="31">
                  <c:v>2407</c:v>
                </c:pt>
                <c:pt idx="32">
                  <c:v>2576</c:v>
                </c:pt>
                <c:pt idx="33">
                  <c:v>2672</c:v>
                </c:pt>
                <c:pt idx="34">
                  <c:v>2802</c:v>
                </c:pt>
                <c:pt idx="35">
                  <c:v>3001</c:v>
                </c:pt>
                <c:pt idx="36">
                  <c:v>3239</c:v>
                </c:pt>
                <c:pt idx="37">
                  <c:v>3519</c:v>
                </c:pt>
                <c:pt idx="38">
                  <c:v>3970</c:v>
                </c:pt>
                <c:pt idx="39">
                  <c:v>4554</c:v>
                </c:pt>
                <c:pt idx="40">
                  <c:v>5154</c:v>
                </c:pt>
                <c:pt idx="41">
                  <c:v>5729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03-4A82-B4D7-274F05D87591}"/>
            </c:ext>
          </c:extLst>
        </c:ser>
        <c:ser>
          <c:idx val="1"/>
          <c:order val="1"/>
          <c:tx>
            <c:v>Psyche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'Execution Graphs'!$J$7:$J$48</c:f>
              <c:strCache>
                <c:ptCount val="42"/>
                <c:pt idx="0">
                  <c:v>2019-03</c:v>
                </c:pt>
                <c:pt idx="1">
                  <c:v>2019-04</c:v>
                </c:pt>
                <c:pt idx="2">
                  <c:v>2019-05</c:v>
                </c:pt>
                <c:pt idx="3">
                  <c:v>2019-06</c:v>
                </c:pt>
                <c:pt idx="4">
                  <c:v>2019-07</c:v>
                </c:pt>
                <c:pt idx="5">
                  <c:v>2019-08</c:v>
                </c:pt>
                <c:pt idx="6">
                  <c:v>2019-09</c:v>
                </c:pt>
                <c:pt idx="7">
                  <c:v>2019-10</c:v>
                </c:pt>
                <c:pt idx="8">
                  <c:v>2019-11</c:v>
                </c:pt>
                <c:pt idx="9">
                  <c:v>2019-12</c:v>
                </c:pt>
                <c:pt idx="10">
                  <c:v>2020-01</c:v>
                </c:pt>
                <c:pt idx="11">
                  <c:v>2020-02</c:v>
                </c:pt>
                <c:pt idx="12">
                  <c:v>2020-03</c:v>
                </c:pt>
                <c:pt idx="13">
                  <c:v>2020-04</c:v>
                </c:pt>
                <c:pt idx="14">
                  <c:v>2020-05</c:v>
                </c:pt>
                <c:pt idx="15">
                  <c:v>2020-06</c:v>
                </c:pt>
                <c:pt idx="16">
                  <c:v>2020-07</c:v>
                </c:pt>
                <c:pt idx="17">
                  <c:v>2020-08</c:v>
                </c:pt>
                <c:pt idx="18">
                  <c:v>2020-09</c:v>
                </c:pt>
                <c:pt idx="19">
                  <c:v>2020-10</c:v>
                </c:pt>
                <c:pt idx="20">
                  <c:v>2020-11</c:v>
                </c:pt>
                <c:pt idx="21">
                  <c:v>2020-12</c:v>
                </c:pt>
                <c:pt idx="22">
                  <c:v>2021-01</c:v>
                </c:pt>
                <c:pt idx="23">
                  <c:v>2021-02</c:v>
                </c:pt>
                <c:pt idx="24">
                  <c:v>2021-03</c:v>
                </c:pt>
                <c:pt idx="25">
                  <c:v>2021-04</c:v>
                </c:pt>
                <c:pt idx="26">
                  <c:v>2021-05</c:v>
                </c:pt>
                <c:pt idx="27">
                  <c:v>2021-06</c:v>
                </c:pt>
                <c:pt idx="28">
                  <c:v>2021-07</c:v>
                </c:pt>
                <c:pt idx="29">
                  <c:v>2021-08</c:v>
                </c:pt>
                <c:pt idx="30">
                  <c:v>2021-09</c:v>
                </c:pt>
                <c:pt idx="31">
                  <c:v>2021-10</c:v>
                </c:pt>
                <c:pt idx="32">
                  <c:v>2021-11</c:v>
                </c:pt>
                <c:pt idx="33">
                  <c:v>2021-12</c:v>
                </c:pt>
                <c:pt idx="34">
                  <c:v>2022-01</c:v>
                </c:pt>
                <c:pt idx="35">
                  <c:v>2022-02</c:v>
                </c:pt>
                <c:pt idx="36">
                  <c:v>2022-03</c:v>
                </c:pt>
                <c:pt idx="37">
                  <c:v>2022-04</c:v>
                </c:pt>
                <c:pt idx="38">
                  <c:v>2022-05</c:v>
                </c:pt>
                <c:pt idx="39">
                  <c:v>2022-06</c:v>
                </c:pt>
                <c:pt idx="40">
                  <c:v>2022-07</c:v>
                </c:pt>
                <c:pt idx="41">
                  <c:v>2022-08</c:v>
                </c:pt>
              </c:strCache>
            </c:strRef>
          </c:cat>
          <c:val>
            <c:numRef>
              <c:f>'Execution Graphs'!$N$7:$N$48</c:f>
              <c:numCache>
                <c:formatCode>General</c:formatCode>
                <c:ptCount val="42"/>
                <c:pt idx="0">
                  <c:v>2</c:v>
                </c:pt>
                <c:pt idx="1">
                  <c:v>15</c:v>
                </c:pt>
                <c:pt idx="2">
                  <c:v>54</c:v>
                </c:pt>
                <c:pt idx="3">
                  <c:v>136</c:v>
                </c:pt>
                <c:pt idx="4">
                  <c:v>237</c:v>
                </c:pt>
                <c:pt idx="5">
                  <c:v>332</c:v>
                </c:pt>
                <c:pt idx="6">
                  <c:v>380</c:v>
                </c:pt>
                <c:pt idx="7">
                  <c:v>397</c:v>
                </c:pt>
                <c:pt idx="8">
                  <c:v>436</c:v>
                </c:pt>
                <c:pt idx="9">
                  <c:v>599</c:v>
                </c:pt>
                <c:pt idx="10">
                  <c:v>701</c:v>
                </c:pt>
                <c:pt idx="11">
                  <c:v>763</c:v>
                </c:pt>
                <c:pt idx="12">
                  <c:v>833</c:v>
                </c:pt>
                <c:pt idx="13">
                  <c:v>905</c:v>
                </c:pt>
                <c:pt idx="14">
                  <c:v>980</c:v>
                </c:pt>
                <c:pt idx="15">
                  <c:v>1139</c:v>
                </c:pt>
                <c:pt idx="16">
                  <c:v>1282</c:v>
                </c:pt>
                <c:pt idx="17">
                  <c:v>1372</c:v>
                </c:pt>
                <c:pt idx="18">
                  <c:v>1517</c:v>
                </c:pt>
                <c:pt idx="19">
                  <c:v>1727</c:v>
                </c:pt>
                <c:pt idx="20">
                  <c:v>1966</c:v>
                </c:pt>
                <c:pt idx="21">
                  <c:v>2179</c:v>
                </c:pt>
                <c:pt idx="22">
                  <c:v>2437</c:v>
                </c:pt>
                <c:pt idx="23">
                  <c:v>2788</c:v>
                </c:pt>
                <c:pt idx="24">
                  <c:v>3268</c:v>
                </c:pt>
                <c:pt idx="25">
                  <c:v>3683</c:v>
                </c:pt>
                <c:pt idx="26">
                  <c:v>3944</c:v>
                </c:pt>
                <c:pt idx="27">
                  <c:v>4338</c:v>
                </c:pt>
                <c:pt idx="28">
                  <c:v>4754</c:v>
                </c:pt>
                <c:pt idx="29">
                  <c:v>5362</c:v>
                </c:pt>
                <c:pt idx="30">
                  <c:v>5868</c:v>
                </c:pt>
                <c:pt idx="31">
                  <c:v>6306</c:v>
                </c:pt>
                <c:pt idx="32">
                  <c:v>6632</c:v>
                </c:pt>
                <c:pt idx="33">
                  <c:v>6984</c:v>
                </c:pt>
                <c:pt idx="34">
                  <c:v>7386</c:v>
                </c:pt>
                <c:pt idx="35">
                  <c:v>7771</c:v>
                </c:pt>
                <c:pt idx="36">
                  <c:v>8288</c:v>
                </c:pt>
                <c:pt idx="37">
                  <c:v>8632</c:v>
                </c:pt>
                <c:pt idx="38">
                  <c:v>8965</c:v>
                </c:pt>
                <c:pt idx="39">
                  <c:v>9192</c:v>
                </c:pt>
                <c:pt idx="40">
                  <c:v>9374</c:v>
                </c:pt>
                <c:pt idx="41">
                  <c:v>9586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03-4A82-B4D7-274F05D875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1865375"/>
        <c:axId val="1678239471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v>Mars Sample Return</c:v>
                </c:tx>
                <c:spPr>
                  <a:ln w="28575" cap="rnd">
                    <a:solidFill>
                      <a:srgbClr val="7030A0"/>
                    </a:solidFill>
                    <a:round/>
                  </a:ln>
                  <a:effectLst/>
                </c:spPr>
                <c:marker>
                  <c:symbol val="none"/>
                </c:marker>
                <c:val>
                  <c:numRef>
                    <c:extLst>
                      <c:ext uri="{02D57815-91ED-43cb-92C2-25804820EDAC}">
                        <c15:formulaRef>
                          <c15:sqref>'Execution Graphs'!$O$7:$O$49</c15:sqref>
                        </c15:formulaRef>
                      </c:ext>
                    </c:extLst>
                    <c:numCache>
                      <c:formatCode>General</c:formatCode>
                      <c:ptCount val="43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0</c:v>
                      </c:pt>
                      <c:pt idx="32">
                        <c:v>0</c:v>
                      </c:pt>
                      <c:pt idx="33">
                        <c:v>0</c:v>
                      </c:pt>
                      <c:pt idx="34">
                        <c:v>0</c:v>
                      </c:pt>
                      <c:pt idx="35">
                        <c:v>0</c:v>
                      </c:pt>
                      <c:pt idx="36">
                        <c:v>0</c:v>
                      </c:pt>
                      <c:pt idx="37">
                        <c:v>0</c:v>
                      </c:pt>
                      <c:pt idx="38">
                        <c:v>0</c:v>
                      </c:pt>
                      <c:pt idx="39">
                        <c:v>0</c:v>
                      </c:pt>
                      <c:pt idx="40">
                        <c:v>10</c:v>
                      </c:pt>
                      <c:pt idx="41">
                        <c:v>13</c:v>
                      </c:pt>
                      <c:pt idx="42">
                        <c:v>15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F403-4A82-B4D7-274F05D87591}"/>
                  </c:ext>
                </c:extLst>
              </c15:ser>
            </c15:filteredLineSeries>
          </c:ext>
        </c:extLst>
      </c:lineChart>
      <c:catAx>
        <c:axId val="1861865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8239471"/>
        <c:crosses val="autoZero"/>
        <c:auto val="1"/>
        <c:lblAlgn val="ctr"/>
        <c:lblOffset val="100"/>
        <c:noMultiLvlLbl val="0"/>
      </c:catAx>
      <c:valAx>
        <c:axId val="1678239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Test</a:t>
                </a:r>
                <a:r>
                  <a:rPr lang="en-US" baseline="0"/>
                  <a:t> Executions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865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Ingenium Executions (Flight Hardware)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Europa Clipper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'Execution Graphs'!$J$31:$J$48</c:f>
              <c:strCache>
                <c:ptCount val="18"/>
                <c:pt idx="0">
                  <c:v>2021-03</c:v>
                </c:pt>
                <c:pt idx="1">
                  <c:v>2021-04</c:v>
                </c:pt>
                <c:pt idx="2">
                  <c:v>2021-05</c:v>
                </c:pt>
                <c:pt idx="3">
                  <c:v>2021-06</c:v>
                </c:pt>
                <c:pt idx="4">
                  <c:v>2021-07</c:v>
                </c:pt>
                <c:pt idx="5">
                  <c:v>2021-08</c:v>
                </c:pt>
                <c:pt idx="6">
                  <c:v>2021-09</c:v>
                </c:pt>
                <c:pt idx="7">
                  <c:v>2021-10</c:v>
                </c:pt>
                <c:pt idx="8">
                  <c:v>2021-11</c:v>
                </c:pt>
                <c:pt idx="9">
                  <c:v>2021-12</c:v>
                </c:pt>
                <c:pt idx="10">
                  <c:v>2022-01</c:v>
                </c:pt>
                <c:pt idx="11">
                  <c:v>2022-02</c:v>
                </c:pt>
                <c:pt idx="12">
                  <c:v>2022-03</c:v>
                </c:pt>
                <c:pt idx="13">
                  <c:v>2022-04</c:v>
                </c:pt>
                <c:pt idx="14">
                  <c:v>2022-05</c:v>
                </c:pt>
                <c:pt idx="15">
                  <c:v>2022-06</c:v>
                </c:pt>
                <c:pt idx="16">
                  <c:v>2022-07</c:v>
                </c:pt>
                <c:pt idx="17">
                  <c:v>2022-08</c:v>
                </c:pt>
              </c:strCache>
            </c:strRef>
          </c:cat>
          <c:val>
            <c:numRef>
              <c:f>'Execution Graphs'!$K$31:$K$48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</c:v>
                </c:pt>
                <c:pt idx="13">
                  <c:v>11</c:v>
                </c:pt>
                <c:pt idx="14">
                  <c:v>33</c:v>
                </c:pt>
                <c:pt idx="15">
                  <c:v>46</c:v>
                </c:pt>
                <c:pt idx="16">
                  <c:v>84</c:v>
                </c:pt>
                <c:pt idx="17">
                  <c:v>117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13-4E53-AEFF-1057DF3B1CFE}"/>
            </c:ext>
          </c:extLst>
        </c:ser>
        <c:ser>
          <c:idx val="1"/>
          <c:order val="1"/>
          <c:tx>
            <c:v>Psyche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'Execution Graphs'!$J$31:$J$48</c:f>
              <c:strCache>
                <c:ptCount val="18"/>
                <c:pt idx="0">
                  <c:v>2021-03</c:v>
                </c:pt>
                <c:pt idx="1">
                  <c:v>2021-04</c:v>
                </c:pt>
                <c:pt idx="2">
                  <c:v>2021-05</c:v>
                </c:pt>
                <c:pt idx="3">
                  <c:v>2021-06</c:v>
                </c:pt>
                <c:pt idx="4">
                  <c:v>2021-07</c:v>
                </c:pt>
                <c:pt idx="5">
                  <c:v>2021-08</c:v>
                </c:pt>
                <c:pt idx="6">
                  <c:v>2021-09</c:v>
                </c:pt>
                <c:pt idx="7">
                  <c:v>2021-10</c:v>
                </c:pt>
                <c:pt idx="8">
                  <c:v>2021-11</c:v>
                </c:pt>
                <c:pt idx="9">
                  <c:v>2021-12</c:v>
                </c:pt>
                <c:pt idx="10">
                  <c:v>2022-01</c:v>
                </c:pt>
                <c:pt idx="11">
                  <c:v>2022-02</c:v>
                </c:pt>
                <c:pt idx="12">
                  <c:v>2022-03</c:v>
                </c:pt>
                <c:pt idx="13">
                  <c:v>2022-04</c:v>
                </c:pt>
                <c:pt idx="14">
                  <c:v>2022-05</c:v>
                </c:pt>
                <c:pt idx="15">
                  <c:v>2022-06</c:v>
                </c:pt>
                <c:pt idx="16">
                  <c:v>2022-07</c:v>
                </c:pt>
                <c:pt idx="17">
                  <c:v>2022-08</c:v>
                </c:pt>
              </c:strCache>
            </c:strRef>
          </c:cat>
          <c:val>
            <c:numRef>
              <c:f>'Execution Graphs'!$L$31:$L$48</c:f>
              <c:numCache>
                <c:formatCode>General</c:formatCode>
                <c:ptCount val="18"/>
                <c:pt idx="0">
                  <c:v>23</c:v>
                </c:pt>
                <c:pt idx="1">
                  <c:v>70</c:v>
                </c:pt>
                <c:pt idx="2">
                  <c:v>161</c:v>
                </c:pt>
                <c:pt idx="3">
                  <c:v>249</c:v>
                </c:pt>
                <c:pt idx="4">
                  <c:v>297</c:v>
                </c:pt>
                <c:pt idx="5">
                  <c:v>375</c:v>
                </c:pt>
                <c:pt idx="6">
                  <c:v>463</c:v>
                </c:pt>
                <c:pt idx="7">
                  <c:v>512</c:v>
                </c:pt>
                <c:pt idx="8">
                  <c:v>635</c:v>
                </c:pt>
                <c:pt idx="9">
                  <c:v>691</c:v>
                </c:pt>
                <c:pt idx="10">
                  <c:v>864</c:v>
                </c:pt>
                <c:pt idx="11">
                  <c:v>938</c:v>
                </c:pt>
                <c:pt idx="12">
                  <c:v>1160</c:v>
                </c:pt>
                <c:pt idx="13">
                  <c:v>1273</c:v>
                </c:pt>
                <c:pt idx="14">
                  <c:v>1414</c:v>
                </c:pt>
                <c:pt idx="15">
                  <c:v>1501</c:v>
                </c:pt>
                <c:pt idx="16">
                  <c:v>1545</c:v>
                </c:pt>
                <c:pt idx="17">
                  <c:v>1628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13-4E53-AEFF-1057DF3B1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1865375"/>
        <c:axId val="1678239471"/>
      </c:lineChart>
      <c:catAx>
        <c:axId val="1861865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8239471"/>
        <c:crosses val="autoZero"/>
        <c:auto val="1"/>
        <c:lblAlgn val="ctr"/>
        <c:lblOffset val="100"/>
        <c:noMultiLvlLbl val="0"/>
      </c:catAx>
      <c:valAx>
        <c:axId val="1678239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Test</a:t>
                </a:r>
                <a:r>
                  <a:rPr lang="en-US" baseline="0"/>
                  <a:t> Executions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865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Psyche</a:t>
            </a:r>
            <a:r>
              <a:rPr lang="en-US" baseline="0"/>
              <a:t> Procedures and Versions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1"/>
          <c:order val="1"/>
          <c:tx>
            <c:v>Versions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'Procedure Graph'!$L$17:$L$58</c:f>
              <c:strCache>
                <c:ptCount val="42"/>
                <c:pt idx="0">
                  <c:v>2019-03</c:v>
                </c:pt>
                <c:pt idx="1">
                  <c:v>2019-04</c:v>
                </c:pt>
                <c:pt idx="2">
                  <c:v>2019-05</c:v>
                </c:pt>
                <c:pt idx="3">
                  <c:v>2019-06</c:v>
                </c:pt>
                <c:pt idx="4">
                  <c:v>2019-07</c:v>
                </c:pt>
                <c:pt idx="5">
                  <c:v>2019-08</c:v>
                </c:pt>
                <c:pt idx="6">
                  <c:v>2019-09</c:v>
                </c:pt>
                <c:pt idx="7">
                  <c:v>2019-10</c:v>
                </c:pt>
                <c:pt idx="8">
                  <c:v>2019-11</c:v>
                </c:pt>
                <c:pt idx="9">
                  <c:v>2019-12</c:v>
                </c:pt>
                <c:pt idx="10">
                  <c:v>2020-01</c:v>
                </c:pt>
                <c:pt idx="11">
                  <c:v>2020-02</c:v>
                </c:pt>
                <c:pt idx="12">
                  <c:v>2020-03</c:v>
                </c:pt>
                <c:pt idx="13">
                  <c:v>2020-04</c:v>
                </c:pt>
                <c:pt idx="14">
                  <c:v>2020-05</c:v>
                </c:pt>
                <c:pt idx="15">
                  <c:v>2020-06</c:v>
                </c:pt>
                <c:pt idx="16">
                  <c:v>2020-07</c:v>
                </c:pt>
                <c:pt idx="17">
                  <c:v>2020-08</c:v>
                </c:pt>
                <c:pt idx="18">
                  <c:v>2020-09</c:v>
                </c:pt>
                <c:pt idx="19">
                  <c:v>2020-10</c:v>
                </c:pt>
                <c:pt idx="20">
                  <c:v>2020-11</c:v>
                </c:pt>
                <c:pt idx="21">
                  <c:v>2020-12</c:v>
                </c:pt>
                <c:pt idx="22">
                  <c:v>2021-01</c:v>
                </c:pt>
                <c:pt idx="23">
                  <c:v>2021-02</c:v>
                </c:pt>
                <c:pt idx="24">
                  <c:v>2021-03</c:v>
                </c:pt>
                <c:pt idx="25">
                  <c:v>2021-04</c:v>
                </c:pt>
                <c:pt idx="26">
                  <c:v>2021-05</c:v>
                </c:pt>
                <c:pt idx="27">
                  <c:v>2021-06</c:v>
                </c:pt>
                <c:pt idx="28">
                  <c:v>2021-07</c:v>
                </c:pt>
                <c:pt idx="29">
                  <c:v>2021-08</c:v>
                </c:pt>
                <c:pt idx="30">
                  <c:v>2021-09</c:v>
                </c:pt>
                <c:pt idx="31">
                  <c:v>2021-10</c:v>
                </c:pt>
                <c:pt idx="32">
                  <c:v>2021-11</c:v>
                </c:pt>
                <c:pt idx="33">
                  <c:v>2021-12</c:v>
                </c:pt>
                <c:pt idx="34">
                  <c:v>2022-01</c:v>
                </c:pt>
                <c:pt idx="35">
                  <c:v>2022-02</c:v>
                </c:pt>
                <c:pt idx="36">
                  <c:v>2022-03</c:v>
                </c:pt>
                <c:pt idx="37">
                  <c:v>2022-04</c:v>
                </c:pt>
                <c:pt idx="38">
                  <c:v>2022-05</c:v>
                </c:pt>
                <c:pt idx="39">
                  <c:v>2022-06</c:v>
                </c:pt>
                <c:pt idx="40">
                  <c:v>2022-07</c:v>
                </c:pt>
                <c:pt idx="41">
                  <c:v>2022-08</c:v>
                </c:pt>
              </c:strCache>
            </c:strRef>
          </c:cat>
          <c:val>
            <c:numRef>
              <c:f>'Procedure Graph'!$S$17:$S$58</c:f>
              <c:numCache>
                <c:formatCode>General</c:formatCode>
                <c:ptCount val="42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7</c:v>
                </c:pt>
                <c:pt idx="4">
                  <c:v>9</c:v>
                </c:pt>
                <c:pt idx="5">
                  <c:v>16</c:v>
                </c:pt>
                <c:pt idx="6">
                  <c:v>18</c:v>
                </c:pt>
                <c:pt idx="7">
                  <c:v>19</c:v>
                </c:pt>
                <c:pt idx="8">
                  <c:v>20</c:v>
                </c:pt>
                <c:pt idx="9">
                  <c:v>22</c:v>
                </c:pt>
                <c:pt idx="10">
                  <c:v>26</c:v>
                </c:pt>
                <c:pt idx="11">
                  <c:v>30</c:v>
                </c:pt>
                <c:pt idx="12">
                  <c:v>36</c:v>
                </c:pt>
                <c:pt idx="13">
                  <c:v>39</c:v>
                </c:pt>
                <c:pt idx="14">
                  <c:v>44</c:v>
                </c:pt>
                <c:pt idx="15">
                  <c:v>53</c:v>
                </c:pt>
                <c:pt idx="16">
                  <c:v>68</c:v>
                </c:pt>
                <c:pt idx="17">
                  <c:v>84</c:v>
                </c:pt>
                <c:pt idx="18">
                  <c:v>114</c:v>
                </c:pt>
                <c:pt idx="19">
                  <c:v>162</c:v>
                </c:pt>
                <c:pt idx="20">
                  <c:v>185</c:v>
                </c:pt>
                <c:pt idx="21">
                  <c:v>228</c:v>
                </c:pt>
                <c:pt idx="22">
                  <c:v>258</c:v>
                </c:pt>
                <c:pt idx="23">
                  <c:v>320</c:v>
                </c:pt>
                <c:pt idx="24">
                  <c:v>400</c:v>
                </c:pt>
                <c:pt idx="25">
                  <c:v>482</c:v>
                </c:pt>
                <c:pt idx="26">
                  <c:v>529</c:v>
                </c:pt>
                <c:pt idx="27">
                  <c:v>681</c:v>
                </c:pt>
                <c:pt idx="28">
                  <c:v>777</c:v>
                </c:pt>
                <c:pt idx="29">
                  <c:v>899</c:v>
                </c:pt>
                <c:pt idx="30">
                  <c:v>1049</c:v>
                </c:pt>
                <c:pt idx="31">
                  <c:v>1196</c:v>
                </c:pt>
                <c:pt idx="32">
                  <c:v>1322</c:v>
                </c:pt>
                <c:pt idx="33">
                  <c:v>1443</c:v>
                </c:pt>
                <c:pt idx="34">
                  <c:v>1577</c:v>
                </c:pt>
                <c:pt idx="35">
                  <c:v>1688</c:v>
                </c:pt>
                <c:pt idx="36">
                  <c:v>1862</c:v>
                </c:pt>
                <c:pt idx="37">
                  <c:v>1962</c:v>
                </c:pt>
                <c:pt idx="38">
                  <c:v>2074</c:v>
                </c:pt>
                <c:pt idx="39">
                  <c:v>2141</c:v>
                </c:pt>
                <c:pt idx="40">
                  <c:v>2176</c:v>
                </c:pt>
                <c:pt idx="41">
                  <c:v>2217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3E-4CAE-B787-56D4FF389904}"/>
            </c:ext>
          </c:extLst>
        </c:ser>
        <c:ser>
          <c:idx val="2"/>
          <c:order val="2"/>
          <c:tx>
            <c:v>Releases</c:v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'Procedure Graph'!$L$17:$L$58</c:f>
              <c:strCache>
                <c:ptCount val="42"/>
                <c:pt idx="0">
                  <c:v>2019-03</c:v>
                </c:pt>
                <c:pt idx="1">
                  <c:v>2019-04</c:v>
                </c:pt>
                <c:pt idx="2">
                  <c:v>2019-05</c:v>
                </c:pt>
                <c:pt idx="3">
                  <c:v>2019-06</c:v>
                </c:pt>
                <c:pt idx="4">
                  <c:v>2019-07</c:v>
                </c:pt>
                <c:pt idx="5">
                  <c:v>2019-08</c:v>
                </c:pt>
                <c:pt idx="6">
                  <c:v>2019-09</c:v>
                </c:pt>
                <c:pt idx="7">
                  <c:v>2019-10</c:v>
                </c:pt>
                <c:pt idx="8">
                  <c:v>2019-11</c:v>
                </c:pt>
                <c:pt idx="9">
                  <c:v>2019-12</c:v>
                </c:pt>
                <c:pt idx="10">
                  <c:v>2020-01</c:v>
                </c:pt>
                <c:pt idx="11">
                  <c:v>2020-02</c:v>
                </c:pt>
                <c:pt idx="12">
                  <c:v>2020-03</c:v>
                </c:pt>
                <c:pt idx="13">
                  <c:v>2020-04</c:v>
                </c:pt>
                <c:pt idx="14">
                  <c:v>2020-05</c:v>
                </c:pt>
                <c:pt idx="15">
                  <c:v>2020-06</c:v>
                </c:pt>
                <c:pt idx="16">
                  <c:v>2020-07</c:v>
                </c:pt>
                <c:pt idx="17">
                  <c:v>2020-08</c:v>
                </c:pt>
                <c:pt idx="18">
                  <c:v>2020-09</c:v>
                </c:pt>
                <c:pt idx="19">
                  <c:v>2020-10</c:v>
                </c:pt>
                <c:pt idx="20">
                  <c:v>2020-11</c:v>
                </c:pt>
                <c:pt idx="21">
                  <c:v>2020-12</c:v>
                </c:pt>
                <c:pt idx="22">
                  <c:v>2021-01</c:v>
                </c:pt>
                <c:pt idx="23">
                  <c:v>2021-02</c:v>
                </c:pt>
                <c:pt idx="24">
                  <c:v>2021-03</c:v>
                </c:pt>
                <c:pt idx="25">
                  <c:v>2021-04</c:v>
                </c:pt>
                <c:pt idx="26">
                  <c:v>2021-05</c:v>
                </c:pt>
                <c:pt idx="27">
                  <c:v>2021-06</c:v>
                </c:pt>
                <c:pt idx="28">
                  <c:v>2021-07</c:v>
                </c:pt>
                <c:pt idx="29">
                  <c:v>2021-08</c:v>
                </c:pt>
                <c:pt idx="30">
                  <c:v>2021-09</c:v>
                </c:pt>
                <c:pt idx="31">
                  <c:v>2021-10</c:v>
                </c:pt>
                <c:pt idx="32">
                  <c:v>2021-11</c:v>
                </c:pt>
                <c:pt idx="33">
                  <c:v>2021-12</c:v>
                </c:pt>
                <c:pt idx="34">
                  <c:v>2022-01</c:v>
                </c:pt>
                <c:pt idx="35">
                  <c:v>2022-02</c:v>
                </c:pt>
                <c:pt idx="36">
                  <c:v>2022-03</c:v>
                </c:pt>
                <c:pt idx="37">
                  <c:v>2022-04</c:v>
                </c:pt>
                <c:pt idx="38">
                  <c:v>2022-05</c:v>
                </c:pt>
                <c:pt idx="39">
                  <c:v>2022-06</c:v>
                </c:pt>
                <c:pt idx="40">
                  <c:v>2022-07</c:v>
                </c:pt>
                <c:pt idx="41">
                  <c:v>2022-08</c:v>
                </c:pt>
              </c:strCache>
            </c:strRef>
          </c:cat>
          <c:val>
            <c:numRef>
              <c:f>'Procedure Graph'!$T$17:$T$58</c:f>
              <c:numCache>
                <c:formatCode>General</c:formatCode>
                <c:ptCount val="4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7</c:v>
                </c:pt>
                <c:pt idx="21">
                  <c:v>20</c:v>
                </c:pt>
                <c:pt idx="22">
                  <c:v>33</c:v>
                </c:pt>
                <c:pt idx="23">
                  <c:v>41</c:v>
                </c:pt>
                <c:pt idx="24">
                  <c:v>71</c:v>
                </c:pt>
                <c:pt idx="25">
                  <c:v>107</c:v>
                </c:pt>
                <c:pt idx="26">
                  <c:v>128</c:v>
                </c:pt>
                <c:pt idx="27">
                  <c:v>156</c:v>
                </c:pt>
                <c:pt idx="28">
                  <c:v>184</c:v>
                </c:pt>
                <c:pt idx="29">
                  <c:v>213</c:v>
                </c:pt>
                <c:pt idx="30">
                  <c:v>267</c:v>
                </c:pt>
                <c:pt idx="31">
                  <c:v>324</c:v>
                </c:pt>
                <c:pt idx="32">
                  <c:v>370</c:v>
                </c:pt>
                <c:pt idx="33">
                  <c:v>395</c:v>
                </c:pt>
                <c:pt idx="34">
                  <c:v>471</c:v>
                </c:pt>
                <c:pt idx="35">
                  <c:v>502</c:v>
                </c:pt>
                <c:pt idx="36">
                  <c:v>530</c:v>
                </c:pt>
                <c:pt idx="37">
                  <c:v>583</c:v>
                </c:pt>
                <c:pt idx="38">
                  <c:v>638</c:v>
                </c:pt>
                <c:pt idx="39">
                  <c:v>671</c:v>
                </c:pt>
                <c:pt idx="40">
                  <c:v>686</c:v>
                </c:pt>
                <c:pt idx="41">
                  <c:v>706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3E-4CAE-B787-56D4FF3899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678533567"/>
        <c:axId val="1410214111"/>
      </c:barChart>
      <c:lineChart>
        <c:grouping val="standard"/>
        <c:varyColors val="0"/>
        <c:ser>
          <c:idx val="0"/>
          <c:order val="0"/>
          <c:tx>
            <c:v>Procedures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'Procedure Graph'!$L$17:$L$58</c:f>
              <c:strCache>
                <c:ptCount val="42"/>
                <c:pt idx="0">
                  <c:v>2019-03</c:v>
                </c:pt>
                <c:pt idx="1">
                  <c:v>2019-04</c:v>
                </c:pt>
                <c:pt idx="2">
                  <c:v>2019-05</c:v>
                </c:pt>
                <c:pt idx="3">
                  <c:v>2019-06</c:v>
                </c:pt>
                <c:pt idx="4">
                  <c:v>2019-07</c:v>
                </c:pt>
                <c:pt idx="5">
                  <c:v>2019-08</c:v>
                </c:pt>
                <c:pt idx="6">
                  <c:v>2019-09</c:v>
                </c:pt>
                <c:pt idx="7">
                  <c:v>2019-10</c:v>
                </c:pt>
                <c:pt idx="8">
                  <c:v>2019-11</c:v>
                </c:pt>
                <c:pt idx="9">
                  <c:v>2019-12</c:v>
                </c:pt>
                <c:pt idx="10">
                  <c:v>2020-01</c:v>
                </c:pt>
                <c:pt idx="11">
                  <c:v>2020-02</c:v>
                </c:pt>
                <c:pt idx="12">
                  <c:v>2020-03</c:v>
                </c:pt>
                <c:pt idx="13">
                  <c:v>2020-04</c:v>
                </c:pt>
                <c:pt idx="14">
                  <c:v>2020-05</c:v>
                </c:pt>
                <c:pt idx="15">
                  <c:v>2020-06</c:v>
                </c:pt>
                <c:pt idx="16">
                  <c:v>2020-07</c:v>
                </c:pt>
                <c:pt idx="17">
                  <c:v>2020-08</c:v>
                </c:pt>
                <c:pt idx="18">
                  <c:v>2020-09</c:v>
                </c:pt>
                <c:pt idx="19">
                  <c:v>2020-10</c:v>
                </c:pt>
                <c:pt idx="20">
                  <c:v>2020-11</c:v>
                </c:pt>
                <c:pt idx="21">
                  <c:v>2020-12</c:v>
                </c:pt>
                <c:pt idx="22">
                  <c:v>2021-01</c:v>
                </c:pt>
                <c:pt idx="23">
                  <c:v>2021-02</c:v>
                </c:pt>
                <c:pt idx="24">
                  <c:v>2021-03</c:v>
                </c:pt>
                <c:pt idx="25">
                  <c:v>2021-04</c:v>
                </c:pt>
                <c:pt idx="26">
                  <c:v>2021-05</c:v>
                </c:pt>
                <c:pt idx="27">
                  <c:v>2021-06</c:v>
                </c:pt>
                <c:pt idx="28">
                  <c:v>2021-07</c:v>
                </c:pt>
                <c:pt idx="29">
                  <c:v>2021-08</c:v>
                </c:pt>
                <c:pt idx="30">
                  <c:v>2021-09</c:v>
                </c:pt>
                <c:pt idx="31">
                  <c:v>2021-10</c:v>
                </c:pt>
                <c:pt idx="32">
                  <c:v>2021-11</c:v>
                </c:pt>
                <c:pt idx="33">
                  <c:v>2021-12</c:v>
                </c:pt>
                <c:pt idx="34">
                  <c:v>2022-01</c:v>
                </c:pt>
                <c:pt idx="35">
                  <c:v>2022-02</c:v>
                </c:pt>
                <c:pt idx="36">
                  <c:v>2022-03</c:v>
                </c:pt>
                <c:pt idx="37">
                  <c:v>2022-04</c:v>
                </c:pt>
                <c:pt idx="38">
                  <c:v>2022-05</c:v>
                </c:pt>
                <c:pt idx="39">
                  <c:v>2022-06</c:v>
                </c:pt>
                <c:pt idx="40">
                  <c:v>2022-07</c:v>
                </c:pt>
                <c:pt idx="41">
                  <c:v>2022-08</c:v>
                </c:pt>
              </c:strCache>
            </c:strRef>
          </c:cat>
          <c:val>
            <c:numRef>
              <c:f>'Procedure Graph'!$Q$17:$Q$58</c:f>
              <c:numCache>
                <c:formatCode>General</c:formatCode>
                <c:ptCount val="42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5</c:v>
                </c:pt>
                <c:pt idx="8">
                  <c:v>6</c:v>
                </c:pt>
                <c:pt idx="9">
                  <c:v>10</c:v>
                </c:pt>
                <c:pt idx="10">
                  <c:v>12</c:v>
                </c:pt>
                <c:pt idx="11">
                  <c:v>13</c:v>
                </c:pt>
                <c:pt idx="12">
                  <c:v>15</c:v>
                </c:pt>
                <c:pt idx="13">
                  <c:v>16</c:v>
                </c:pt>
                <c:pt idx="14">
                  <c:v>20</c:v>
                </c:pt>
                <c:pt idx="15">
                  <c:v>25</c:v>
                </c:pt>
                <c:pt idx="16">
                  <c:v>42</c:v>
                </c:pt>
                <c:pt idx="17">
                  <c:v>52</c:v>
                </c:pt>
                <c:pt idx="18">
                  <c:v>65</c:v>
                </c:pt>
                <c:pt idx="19">
                  <c:v>77</c:v>
                </c:pt>
                <c:pt idx="20">
                  <c:v>86</c:v>
                </c:pt>
                <c:pt idx="21">
                  <c:v>95</c:v>
                </c:pt>
                <c:pt idx="22">
                  <c:v>117</c:v>
                </c:pt>
                <c:pt idx="23">
                  <c:v>130</c:v>
                </c:pt>
                <c:pt idx="24">
                  <c:v>170</c:v>
                </c:pt>
                <c:pt idx="25">
                  <c:v>197</c:v>
                </c:pt>
                <c:pt idx="26">
                  <c:v>237</c:v>
                </c:pt>
                <c:pt idx="27">
                  <c:v>287</c:v>
                </c:pt>
                <c:pt idx="28">
                  <c:v>329</c:v>
                </c:pt>
                <c:pt idx="29">
                  <c:v>388</c:v>
                </c:pt>
                <c:pt idx="30">
                  <c:v>422</c:v>
                </c:pt>
                <c:pt idx="31">
                  <c:v>465</c:v>
                </c:pt>
                <c:pt idx="32">
                  <c:v>533</c:v>
                </c:pt>
                <c:pt idx="33">
                  <c:v>578</c:v>
                </c:pt>
                <c:pt idx="34">
                  <c:v>609</c:v>
                </c:pt>
                <c:pt idx="35">
                  <c:v>660</c:v>
                </c:pt>
                <c:pt idx="36">
                  <c:v>722</c:v>
                </c:pt>
                <c:pt idx="37">
                  <c:v>750</c:v>
                </c:pt>
                <c:pt idx="38">
                  <c:v>787</c:v>
                </c:pt>
                <c:pt idx="39">
                  <c:v>814</c:v>
                </c:pt>
                <c:pt idx="40">
                  <c:v>829</c:v>
                </c:pt>
                <c:pt idx="41">
                  <c:v>848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83E-4CAE-B787-56D4FF3899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78525167"/>
        <c:axId val="1410213279"/>
      </c:lineChart>
      <c:catAx>
        <c:axId val="1678525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0213279"/>
        <c:crosses val="autoZero"/>
        <c:auto val="1"/>
        <c:lblAlgn val="ctr"/>
        <c:lblOffset val="100"/>
        <c:noMultiLvlLbl val="0"/>
      </c:catAx>
      <c:valAx>
        <c:axId val="141021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Procedures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8525167"/>
        <c:crosses val="autoZero"/>
        <c:crossBetween val="between"/>
      </c:valAx>
      <c:valAx>
        <c:axId val="1410214111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Procedure Versions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8533567"/>
        <c:crosses val="max"/>
        <c:crossBetween val="between"/>
      </c:valAx>
      <c:catAx>
        <c:axId val="167853356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102141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Europa</a:t>
            </a:r>
            <a:r>
              <a:rPr lang="en-US" baseline="0"/>
              <a:t> Clipper Procedure and Versions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1"/>
          <c:order val="1"/>
          <c:tx>
            <c:v>Versions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'Procedure Graph'!$B$17:$B$58</c:f>
              <c:strCache>
                <c:ptCount val="42"/>
                <c:pt idx="0">
                  <c:v>2019-03</c:v>
                </c:pt>
                <c:pt idx="1">
                  <c:v>2019-04</c:v>
                </c:pt>
                <c:pt idx="2">
                  <c:v>2019-05</c:v>
                </c:pt>
                <c:pt idx="3">
                  <c:v>2019-06</c:v>
                </c:pt>
                <c:pt idx="4">
                  <c:v>2019-07</c:v>
                </c:pt>
                <c:pt idx="5">
                  <c:v>2019-08</c:v>
                </c:pt>
                <c:pt idx="6">
                  <c:v>2019-09</c:v>
                </c:pt>
                <c:pt idx="7">
                  <c:v>2019-10</c:v>
                </c:pt>
                <c:pt idx="8">
                  <c:v>2019-11</c:v>
                </c:pt>
                <c:pt idx="9">
                  <c:v>2019-12</c:v>
                </c:pt>
                <c:pt idx="10">
                  <c:v>2020-01</c:v>
                </c:pt>
                <c:pt idx="11">
                  <c:v>2020-02</c:v>
                </c:pt>
                <c:pt idx="12">
                  <c:v>2020-03</c:v>
                </c:pt>
                <c:pt idx="13">
                  <c:v>2020-04</c:v>
                </c:pt>
                <c:pt idx="14">
                  <c:v>2020-05</c:v>
                </c:pt>
                <c:pt idx="15">
                  <c:v>2020-06</c:v>
                </c:pt>
                <c:pt idx="16">
                  <c:v>2020-07</c:v>
                </c:pt>
                <c:pt idx="17">
                  <c:v>2020-08</c:v>
                </c:pt>
                <c:pt idx="18">
                  <c:v>2020-09</c:v>
                </c:pt>
                <c:pt idx="19">
                  <c:v>2020-10</c:v>
                </c:pt>
                <c:pt idx="20">
                  <c:v>2020-11</c:v>
                </c:pt>
                <c:pt idx="21">
                  <c:v>2020-12</c:v>
                </c:pt>
                <c:pt idx="22">
                  <c:v>2021-01</c:v>
                </c:pt>
                <c:pt idx="23">
                  <c:v>2021-02</c:v>
                </c:pt>
                <c:pt idx="24">
                  <c:v>2021-03</c:v>
                </c:pt>
                <c:pt idx="25">
                  <c:v>2021-04</c:v>
                </c:pt>
                <c:pt idx="26">
                  <c:v>2021-05</c:v>
                </c:pt>
                <c:pt idx="27">
                  <c:v>2021-06</c:v>
                </c:pt>
                <c:pt idx="28">
                  <c:v>2021-07</c:v>
                </c:pt>
                <c:pt idx="29">
                  <c:v>2021-08</c:v>
                </c:pt>
                <c:pt idx="30">
                  <c:v>2021-09</c:v>
                </c:pt>
                <c:pt idx="31">
                  <c:v>2021-10</c:v>
                </c:pt>
                <c:pt idx="32">
                  <c:v>2021-11</c:v>
                </c:pt>
                <c:pt idx="33">
                  <c:v>2021-12</c:v>
                </c:pt>
                <c:pt idx="34">
                  <c:v>2022-01</c:v>
                </c:pt>
                <c:pt idx="35">
                  <c:v>2022-02</c:v>
                </c:pt>
                <c:pt idx="36">
                  <c:v>2022-03</c:v>
                </c:pt>
                <c:pt idx="37">
                  <c:v>2022-04</c:v>
                </c:pt>
                <c:pt idx="38">
                  <c:v>2022-05</c:v>
                </c:pt>
                <c:pt idx="39">
                  <c:v>2022-06</c:v>
                </c:pt>
                <c:pt idx="40">
                  <c:v>2022-07</c:v>
                </c:pt>
                <c:pt idx="41">
                  <c:v>2022-08</c:v>
                </c:pt>
              </c:strCache>
            </c:strRef>
          </c:cat>
          <c:val>
            <c:numRef>
              <c:f>'Procedure Graph'!$I$17:$I$58</c:f>
              <c:numCache>
                <c:formatCode>General</c:formatCode>
                <c:ptCount val="4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</c:v>
                </c:pt>
                <c:pt idx="7">
                  <c:v>5</c:v>
                </c:pt>
                <c:pt idx="8">
                  <c:v>20</c:v>
                </c:pt>
                <c:pt idx="9">
                  <c:v>25</c:v>
                </c:pt>
                <c:pt idx="10">
                  <c:v>30</c:v>
                </c:pt>
                <c:pt idx="11">
                  <c:v>39</c:v>
                </c:pt>
                <c:pt idx="12">
                  <c:v>65</c:v>
                </c:pt>
                <c:pt idx="13">
                  <c:v>132</c:v>
                </c:pt>
                <c:pt idx="14">
                  <c:v>190</c:v>
                </c:pt>
                <c:pt idx="15">
                  <c:v>259</c:v>
                </c:pt>
                <c:pt idx="16">
                  <c:v>302</c:v>
                </c:pt>
                <c:pt idx="17">
                  <c:v>341</c:v>
                </c:pt>
                <c:pt idx="18">
                  <c:v>381</c:v>
                </c:pt>
                <c:pt idx="19">
                  <c:v>473</c:v>
                </c:pt>
                <c:pt idx="20">
                  <c:v>501</c:v>
                </c:pt>
                <c:pt idx="21">
                  <c:v>535</c:v>
                </c:pt>
                <c:pt idx="22">
                  <c:v>588</c:v>
                </c:pt>
                <c:pt idx="23">
                  <c:v>647</c:v>
                </c:pt>
                <c:pt idx="24">
                  <c:v>681</c:v>
                </c:pt>
                <c:pt idx="25">
                  <c:v>721</c:v>
                </c:pt>
                <c:pt idx="26">
                  <c:v>796</c:v>
                </c:pt>
                <c:pt idx="27">
                  <c:v>947</c:v>
                </c:pt>
                <c:pt idx="28">
                  <c:v>1018</c:v>
                </c:pt>
                <c:pt idx="29">
                  <c:v>1102</c:v>
                </c:pt>
                <c:pt idx="30">
                  <c:v>1179</c:v>
                </c:pt>
                <c:pt idx="31">
                  <c:v>1285</c:v>
                </c:pt>
                <c:pt idx="32">
                  <c:v>1341</c:v>
                </c:pt>
                <c:pt idx="33">
                  <c:v>1372</c:v>
                </c:pt>
                <c:pt idx="34">
                  <c:v>1404</c:v>
                </c:pt>
                <c:pt idx="35">
                  <c:v>1459</c:v>
                </c:pt>
                <c:pt idx="36">
                  <c:v>1534</c:v>
                </c:pt>
                <c:pt idx="37">
                  <c:v>1621</c:v>
                </c:pt>
                <c:pt idx="38">
                  <c:v>1789</c:v>
                </c:pt>
                <c:pt idx="39">
                  <c:v>1985</c:v>
                </c:pt>
                <c:pt idx="40">
                  <c:v>2180</c:v>
                </c:pt>
                <c:pt idx="41">
                  <c:v>2445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05-42AA-8188-7E1AA355105E}"/>
            </c:ext>
          </c:extLst>
        </c:ser>
        <c:ser>
          <c:idx val="2"/>
          <c:order val="2"/>
          <c:tx>
            <c:v>Releases</c:v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'Procedure Graph'!$B$17:$B$58</c:f>
              <c:strCache>
                <c:ptCount val="42"/>
                <c:pt idx="0">
                  <c:v>2019-03</c:v>
                </c:pt>
                <c:pt idx="1">
                  <c:v>2019-04</c:v>
                </c:pt>
                <c:pt idx="2">
                  <c:v>2019-05</c:v>
                </c:pt>
                <c:pt idx="3">
                  <c:v>2019-06</c:v>
                </c:pt>
                <c:pt idx="4">
                  <c:v>2019-07</c:v>
                </c:pt>
                <c:pt idx="5">
                  <c:v>2019-08</c:v>
                </c:pt>
                <c:pt idx="6">
                  <c:v>2019-09</c:v>
                </c:pt>
                <c:pt idx="7">
                  <c:v>2019-10</c:v>
                </c:pt>
                <c:pt idx="8">
                  <c:v>2019-11</c:v>
                </c:pt>
                <c:pt idx="9">
                  <c:v>2019-12</c:v>
                </c:pt>
                <c:pt idx="10">
                  <c:v>2020-01</c:v>
                </c:pt>
                <c:pt idx="11">
                  <c:v>2020-02</c:v>
                </c:pt>
                <c:pt idx="12">
                  <c:v>2020-03</c:v>
                </c:pt>
                <c:pt idx="13">
                  <c:v>2020-04</c:v>
                </c:pt>
                <c:pt idx="14">
                  <c:v>2020-05</c:v>
                </c:pt>
                <c:pt idx="15">
                  <c:v>2020-06</c:v>
                </c:pt>
                <c:pt idx="16">
                  <c:v>2020-07</c:v>
                </c:pt>
                <c:pt idx="17">
                  <c:v>2020-08</c:v>
                </c:pt>
                <c:pt idx="18">
                  <c:v>2020-09</c:v>
                </c:pt>
                <c:pt idx="19">
                  <c:v>2020-10</c:v>
                </c:pt>
                <c:pt idx="20">
                  <c:v>2020-11</c:v>
                </c:pt>
                <c:pt idx="21">
                  <c:v>2020-12</c:v>
                </c:pt>
                <c:pt idx="22">
                  <c:v>2021-01</c:v>
                </c:pt>
                <c:pt idx="23">
                  <c:v>2021-02</c:v>
                </c:pt>
                <c:pt idx="24">
                  <c:v>2021-03</c:v>
                </c:pt>
                <c:pt idx="25">
                  <c:v>2021-04</c:v>
                </c:pt>
                <c:pt idx="26">
                  <c:v>2021-05</c:v>
                </c:pt>
                <c:pt idx="27">
                  <c:v>2021-06</c:v>
                </c:pt>
                <c:pt idx="28">
                  <c:v>2021-07</c:v>
                </c:pt>
                <c:pt idx="29">
                  <c:v>2021-08</c:v>
                </c:pt>
                <c:pt idx="30">
                  <c:v>2021-09</c:v>
                </c:pt>
                <c:pt idx="31">
                  <c:v>2021-10</c:v>
                </c:pt>
                <c:pt idx="32">
                  <c:v>2021-11</c:v>
                </c:pt>
                <c:pt idx="33">
                  <c:v>2021-12</c:v>
                </c:pt>
                <c:pt idx="34">
                  <c:v>2022-01</c:v>
                </c:pt>
                <c:pt idx="35">
                  <c:v>2022-02</c:v>
                </c:pt>
                <c:pt idx="36">
                  <c:v>2022-03</c:v>
                </c:pt>
                <c:pt idx="37">
                  <c:v>2022-04</c:v>
                </c:pt>
                <c:pt idx="38">
                  <c:v>2022-05</c:v>
                </c:pt>
                <c:pt idx="39">
                  <c:v>2022-06</c:v>
                </c:pt>
                <c:pt idx="40">
                  <c:v>2022-07</c:v>
                </c:pt>
                <c:pt idx="41">
                  <c:v>2022-08</c:v>
                </c:pt>
              </c:strCache>
            </c:strRef>
          </c:cat>
          <c:val>
            <c:numRef>
              <c:f>'Procedure Graph'!$J$17:$J$58</c:f>
              <c:numCache>
                <c:formatCode>General</c:formatCode>
                <c:ptCount val="4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1</c:v>
                </c:pt>
                <c:pt idx="17">
                  <c:v>2</c:v>
                </c:pt>
                <c:pt idx="18">
                  <c:v>2</c:v>
                </c:pt>
                <c:pt idx="19">
                  <c:v>6</c:v>
                </c:pt>
                <c:pt idx="20">
                  <c:v>8</c:v>
                </c:pt>
                <c:pt idx="21">
                  <c:v>13</c:v>
                </c:pt>
                <c:pt idx="22">
                  <c:v>19</c:v>
                </c:pt>
                <c:pt idx="23">
                  <c:v>31</c:v>
                </c:pt>
                <c:pt idx="24">
                  <c:v>45</c:v>
                </c:pt>
                <c:pt idx="25">
                  <c:v>50</c:v>
                </c:pt>
                <c:pt idx="26">
                  <c:v>55</c:v>
                </c:pt>
                <c:pt idx="27">
                  <c:v>61</c:v>
                </c:pt>
                <c:pt idx="28">
                  <c:v>75</c:v>
                </c:pt>
                <c:pt idx="29">
                  <c:v>94</c:v>
                </c:pt>
                <c:pt idx="30">
                  <c:v>125</c:v>
                </c:pt>
                <c:pt idx="31">
                  <c:v>159</c:v>
                </c:pt>
                <c:pt idx="32">
                  <c:v>196</c:v>
                </c:pt>
                <c:pt idx="33">
                  <c:v>219</c:v>
                </c:pt>
                <c:pt idx="34">
                  <c:v>238</c:v>
                </c:pt>
                <c:pt idx="35">
                  <c:v>273</c:v>
                </c:pt>
                <c:pt idx="36">
                  <c:v>310</c:v>
                </c:pt>
                <c:pt idx="37">
                  <c:v>354</c:v>
                </c:pt>
                <c:pt idx="38">
                  <c:v>415</c:v>
                </c:pt>
                <c:pt idx="39">
                  <c:v>480</c:v>
                </c:pt>
                <c:pt idx="40">
                  <c:v>552</c:v>
                </c:pt>
                <c:pt idx="41">
                  <c:v>639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05-42AA-8188-7E1AA35510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219280063"/>
        <c:axId val="1198180239"/>
      </c:barChart>
      <c:lineChart>
        <c:grouping val="standard"/>
        <c:varyColors val="0"/>
        <c:ser>
          <c:idx val="0"/>
          <c:order val="0"/>
          <c:tx>
            <c:v>Procedures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'Procedure Graph'!$B$17:$B$58</c:f>
              <c:strCache>
                <c:ptCount val="42"/>
                <c:pt idx="0">
                  <c:v>2019-03</c:v>
                </c:pt>
                <c:pt idx="1">
                  <c:v>2019-04</c:v>
                </c:pt>
                <c:pt idx="2">
                  <c:v>2019-05</c:v>
                </c:pt>
                <c:pt idx="3">
                  <c:v>2019-06</c:v>
                </c:pt>
                <c:pt idx="4">
                  <c:v>2019-07</c:v>
                </c:pt>
                <c:pt idx="5">
                  <c:v>2019-08</c:v>
                </c:pt>
                <c:pt idx="6">
                  <c:v>2019-09</c:v>
                </c:pt>
                <c:pt idx="7">
                  <c:v>2019-10</c:v>
                </c:pt>
                <c:pt idx="8">
                  <c:v>2019-11</c:v>
                </c:pt>
                <c:pt idx="9">
                  <c:v>2019-12</c:v>
                </c:pt>
                <c:pt idx="10">
                  <c:v>2020-01</c:v>
                </c:pt>
                <c:pt idx="11">
                  <c:v>2020-02</c:v>
                </c:pt>
                <c:pt idx="12">
                  <c:v>2020-03</c:v>
                </c:pt>
                <c:pt idx="13">
                  <c:v>2020-04</c:v>
                </c:pt>
                <c:pt idx="14">
                  <c:v>2020-05</c:v>
                </c:pt>
                <c:pt idx="15">
                  <c:v>2020-06</c:v>
                </c:pt>
                <c:pt idx="16">
                  <c:v>2020-07</c:v>
                </c:pt>
                <c:pt idx="17">
                  <c:v>2020-08</c:v>
                </c:pt>
                <c:pt idx="18">
                  <c:v>2020-09</c:v>
                </c:pt>
                <c:pt idx="19">
                  <c:v>2020-10</c:v>
                </c:pt>
                <c:pt idx="20">
                  <c:v>2020-11</c:v>
                </c:pt>
                <c:pt idx="21">
                  <c:v>2020-12</c:v>
                </c:pt>
                <c:pt idx="22">
                  <c:v>2021-01</c:v>
                </c:pt>
                <c:pt idx="23">
                  <c:v>2021-02</c:v>
                </c:pt>
                <c:pt idx="24">
                  <c:v>2021-03</c:v>
                </c:pt>
                <c:pt idx="25">
                  <c:v>2021-04</c:v>
                </c:pt>
                <c:pt idx="26">
                  <c:v>2021-05</c:v>
                </c:pt>
                <c:pt idx="27">
                  <c:v>2021-06</c:v>
                </c:pt>
                <c:pt idx="28">
                  <c:v>2021-07</c:v>
                </c:pt>
                <c:pt idx="29">
                  <c:v>2021-08</c:v>
                </c:pt>
                <c:pt idx="30">
                  <c:v>2021-09</c:v>
                </c:pt>
                <c:pt idx="31">
                  <c:v>2021-10</c:v>
                </c:pt>
                <c:pt idx="32">
                  <c:v>2021-11</c:v>
                </c:pt>
                <c:pt idx="33">
                  <c:v>2021-12</c:v>
                </c:pt>
                <c:pt idx="34">
                  <c:v>2022-01</c:v>
                </c:pt>
                <c:pt idx="35">
                  <c:v>2022-02</c:v>
                </c:pt>
                <c:pt idx="36">
                  <c:v>2022-03</c:v>
                </c:pt>
                <c:pt idx="37">
                  <c:v>2022-04</c:v>
                </c:pt>
                <c:pt idx="38">
                  <c:v>2022-05</c:v>
                </c:pt>
                <c:pt idx="39">
                  <c:v>2022-06</c:v>
                </c:pt>
                <c:pt idx="40">
                  <c:v>2022-07</c:v>
                </c:pt>
                <c:pt idx="41">
                  <c:v>2022-08</c:v>
                </c:pt>
              </c:strCache>
            </c:strRef>
          </c:cat>
          <c:val>
            <c:numRef>
              <c:f>'Procedure Graph'!$G$17:$G$58</c:f>
              <c:numCache>
                <c:formatCode>General</c:formatCode>
                <c:ptCount val="4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4</c:v>
                </c:pt>
                <c:pt idx="7">
                  <c:v>9</c:v>
                </c:pt>
                <c:pt idx="8">
                  <c:v>12</c:v>
                </c:pt>
                <c:pt idx="9">
                  <c:v>14</c:v>
                </c:pt>
                <c:pt idx="10">
                  <c:v>18</c:v>
                </c:pt>
                <c:pt idx="11">
                  <c:v>22</c:v>
                </c:pt>
                <c:pt idx="12">
                  <c:v>27</c:v>
                </c:pt>
                <c:pt idx="13">
                  <c:v>37</c:v>
                </c:pt>
                <c:pt idx="14">
                  <c:v>51</c:v>
                </c:pt>
                <c:pt idx="15">
                  <c:v>55</c:v>
                </c:pt>
                <c:pt idx="16">
                  <c:v>65</c:v>
                </c:pt>
                <c:pt idx="17">
                  <c:v>68</c:v>
                </c:pt>
                <c:pt idx="18">
                  <c:v>83</c:v>
                </c:pt>
                <c:pt idx="19">
                  <c:v>93</c:v>
                </c:pt>
                <c:pt idx="20">
                  <c:v>103</c:v>
                </c:pt>
                <c:pt idx="21">
                  <c:v>108</c:v>
                </c:pt>
                <c:pt idx="22">
                  <c:v>119</c:v>
                </c:pt>
                <c:pt idx="23">
                  <c:v>126</c:v>
                </c:pt>
                <c:pt idx="24">
                  <c:v>148</c:v>
                </c:pt>
                <c:pt idx="25">
                  <c:v>165</c:v>
                </c:pt>
                <c:pt idx="26">
                  <c:v>197</c:v>
                </c:pt>
                <c:pt idx="27">
                  <c:v>288</c:v>
                </c:pt>
                <c:pt idx="28">
                  <c:v>311</c:v>
                </c:pt>
                <c:pt idx="29">
                  <c:v>323</c:v>
                </c:pt>
                <c:pt idx="30">
                  <c:v>348</c:v>
                </c:pt>
                <c:pt idx="31">
                  <c:v>383</c:v>
                </c:pt>
                <c:pt idx="32">
                  <c:v>414</c:v>
                </c:pt>
                <c:pt idx="33">
                  <c:v>437</c:v>
                </c:pt>
                <c:pt idx="34">
                  <c:v>461</c:v>
                </c:pt>
                <c:pt idx="35">
                  <c:v>490</c:v>
                </c:pt>
                <c:pt idx="36">
                  <c:v>526</c:v>
                </c:pt>
                <c:pt idx="37">
                  <c:v>572</c:v>
                </c:pt>
                <c:pt idx="38">
                  <c:v>637</c:v>
                </c:pt>
                <c:pt idx="39">
                  <c:v>698</c:v>
                </c:pt>
                <c:pt idx="40">
                  <c:v>763</c:v>
                </c:pt>
                <c:pt idx="41">
                  <c:v>837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D05-42AA-8188-7E1AA35510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21291839"/>
        <c:axId val="1198170671"/>
      </c:lineChart>
      <c:catAx>
        <c:axId val="202129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8170671"/>
        <c:crosses val="autoZero"/>
        <c:auto val="1"/>
        <c:lblAlgn val="ctr"/>
        <c:lblOffset val="100"/>
        <c:noMultiLvlLbl val="0"/>
      </c:catAx>
      <c:valAx>
        <c:axId val="1198170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Procedures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1291839"/>
        <c:crosses val="autoZero"/>
        <c:crossBetween val="between"/>
      </c:valAx>
      <c:valAx>
        <c:axId val="119818023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Procedure Versions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9280063"/>
        <c:crosses val="max"/>
        <c:crossBetween val="between"/>
      </c:valAx>
      <c:catAx>
        <c:axId val="2192800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9818023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E0A200-6553-B147-90C9-CEF91EFF8297}" type="datetimeFigureOut">
              <a:rPr lang="en-US" smtClean="0">
                <a:latin typeface="Arial"/>
              </a:rPr>
              <a:t>2/15/2023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2C01C-8156-EE4C-BC47-869CA09DFB9E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24958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2FC77F81-3125-2240-A858-DAD650E09B57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D55DD9D9-7F94-8C4C-8748-81A0C015A8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463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2341" y="3221701"/>
            <a:ext cx="7513104" cy="5004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800" b="1" baseline="0">
                <a:solidFill>
                  <a:schemeClr val="tx1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3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912341" y="3722185"/>
            <a:ext cx="7498993" cy="123577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aseline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909983" y="5649583"/>
            <a:ext cx="7424737" cy="779462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09983" y="2885929"/>
            <a:ext cx="7515462" cy="33577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6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956816"/>
            <a:ext cx="3337560" cy="927100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24"/>
          </p:nvPr>
        </p:nvSpPr>
        <p:spPr>
          <a:xfrm>
            <a:off x="912341" y="6457847"/>
            <a:ext cx="7422379" cy="400153"/>
          </a:xfrm>
        </p:spPr>
        <p:txBody>
          <a:bodyPr/>
          <a:lstStyle/>
          <a:p>
            <a:pPr algn="l"/>
            <a:r>
              <a:rPr lang="en-US" dirty="0"/>
              <a:t>For required markings, please visit https://mh.jpl.nasa.gov</a:t>
            </a:r>
          </a:p>
        </p:txBody>
      </p:sp>
    </p:spTree>
    <p:extLst>
      <p:ext uri="{BB962C8B-B14F-4D97-AF65-F5344CB8AC3E}">
        <p14:creationId xmlns:p14="http://schemas.microsoft.com/office/powerpoint/2010/main" val="183458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46583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Tx/>
              <a:buNone/>
              <a:defRPr sz="16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69198" y="4814634"/>
            <a:ext cx="8436135" cy="4301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800" b="1" baseline="0">
                <a:solidFill>
                  <a:srgbClr val="000000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523999"/>
            <a:ext cx="8436135" cy="29063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6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369199" y="5853545"/>
            <a:ext cx="4964801" cy="66579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>
                <a:solidFill>
                  <a:srgbClr val="000000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9" y="5244817"/>
            <a:ext cx="8436134" cy="47018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aseline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Click to Add a Presentation Subtitle</a:t>
            </a:r>
          </a:p>
        </p:txBody>
      </p:sp>
      <p:pic>
        <p:nvPicPr>
          <p:cNvPr id="12" name="Picture 11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568" y="5833872"/>
            <a:ext cx="2925483" cy="812634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>
          <a:xfrm>
            <a:off x="369198" y="6457847"/>
            <a:ext cx="4964802" cy="40015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For required markings, please visit https://mh.jpl.nasa.gov</a:t>
            </a:r>
          </a:p>
        </p:txBody>
      </p:sp>
    </p:spTree>
    <p:extLst>
      <p:ext uri="{BB962C8B-B14F-4D97-AF65-F5344CB8AC3E}">
        <p14:creationId xmlns:p14="http://schemas.microsoft.com/office/powerpoint/2010/main" val="681930005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Ver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576455" cy="68580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Tx/>
              <a:buNone/>
              <a:defRPr sz="1600">
                <a:solidFill>
                  <a:srgbClr val="000000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5687786" y="1919101"/>
            <a:ext cx="3347357" cy="8830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rgbClr val="000000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4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5687785" y="2783302"/>
            <a:ext cx="3347357" cy="1000129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>
                <a:solidFill>
                  <a:srgbClr val="000000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687784" y="1015999"/>
            <a:ext cx="3347359" cy="85687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tabLst/>
              <a:defRPr sz="14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</a:t>
            </a:r>
            <a:br>
              <a:rPr lang="en-US" dirty="0"/>
            </a:br>
            <a:r>
              <a:rPr lang="en-US" dirty="0"/>
              <a:t>Mission Name (optional)</a:t>
            </a:r>
          </a:p>
        </p:txBody>
      </p:sp>
      <p:pic>
        <p:nvPicPr>
          <p:cNvPr id="10" name="Picture 9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568" y="5367528"/>
            <a:ext cx="2925483" cy="812634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22"/>
          </p:nvPr>
        </p:nvSpPr>
        <p:spPr>
          <a:xfrm>
            <a:off x="5687568" y="6457847"/>
            <a:ext cx="3347574" cy="400153"/>
          </a:xfrm>
        </p:spPr>
        <p:txBody>
          <a:bodyPr/>
          <a:lstStyle/>
          <a:p>
            <a:r>
              <a:rPr lang="en-US" dirty="0"/>
              <a:t>For required markings, please visit https://mh.jpl.nasa.gov</a:t>
            </a:r>
          </a:p>
        </p:txBody>
      </p:sp>
    </p:spTree>
    <p:extLst>
      <p:ext uri="{BB962C8B-B14F-4D97-AF65-F5344CB8AC3E}">
        <p14:creationId xmlns:p14="http://schemas.microsoft.com/office/powerpoint/2010/main" val="1346538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457199" y="1600198"/>
            <a:ext cx="82296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6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199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200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457199" y="1600198"/>
            <a:ext cx="82296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75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25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9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69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3" name="Content Placeholder 14"/>
          <p:cNvSpPr>
            <a:spLocks noGrp="1"/>
          </p:cNvSpPr>
          <p:nvPr>
            <p:ph sz="quarter" idx="21"/>
          </p:nvPr>
        </p:nvSpPr>
        <p:spPr>
          <a:xfrm>
            <a:off x="457200" y="1599449"/>
            <a:ext cx="4038600" cy="4526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4"/>
          <p:cNvSpPr>
            <a:spLocks noGrp="1"/>
          </p:cNvSpPr>
          <p:nvPr>
            <p:ph sz="quarter" idx="22"/>
          </p:nvPr>
        </p:nvSpPr>
        <p:spPr>
          <a:xfrm>
            <a:off x="4648200" y="1599449"/>
            <a:ext cx="4038600" cy="4526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19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3" name="Content Placeholder 14"/>
          <p:cNvSpPr>
            <a:spLocks noGrp="1"/>
          </p:cNvSpPr>
          <p:nvPr>
            <p:ph sz="quarter" idx="21"/>
          </p:nvPr>
        </p:nvSpPr>
        <p:spPr>
          <a:xfrm>
            <a:off x="457200" y="2174875"/>
            <a:ext cx="4038600" cy="395128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4"/>
          <p:cNvSpPr>
            <a:spLocks noGrp="1"/>
          </p:cNvSpPr>
          <p:nvPr>
            <p:ph sz="quarter" idx="22"/>
          </p:nvPr>
        </p:nvSpPr>
        <p:spPr>
          <a:xfrm>
            <a:off x="4648200" y="2174875"/>
            <a:ext cx="4038600" cy="395128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7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3575050" y="1596524"/>
            <a:ext cx="5111750" cy="4405898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758573"/>
            <a:ext cx="3008313" cy="3243849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457200" y="1596524"/>
            <a:ext cx="3008313" cy="1162049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586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590842"/>
            <a:ext cx="5486400" cy="33839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614565"/>
            <a:ext cx="5486400" cy="52154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1792288" y="4974802"/>
            <a:ext cx="5486400" cy="631073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278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lac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1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igh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51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25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8107" y="2537619"/>
            <a:ext cx="8227786" cy="1782763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 sz="4800" baseline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add section header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327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Gray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8107" y="2537619"/>
            <a:ext cx="8227786" cy="1782763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 sz="4800" baseline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add section header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6556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4379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276323" y="3654169"/>
            <a:ext cx="4581678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" y="3863419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856" y="2377440"/>
            <a:ext cx="4581144" cy="127254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254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428" y="2792730"/>
            <a:ext cx="4581144" cy="127254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4415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2341" y="3221701"/>
            <a:ext cx="7513104" cy="5004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800" b="1" baseline="0">
                <a:solidFill>
                  <a:srgbClr val="FFFFFF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3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912341" y="3722185"/>
            <a:ext cx="7498993" cy="123577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aseline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909983" y="5649583"/>
            <a:ext cx="7424737" cy="779462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09983" y="2885929"/>
            <a:ext cx="7515462" cy="33577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6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10" name="Picture 9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956816"/>
            <a:ext cx="3337560" cy="9271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24"/>
          </p:nvPr>
        </p:nvSpPr>
        <p:spPr>
          <a:xfrm>
            <a:off x="909983" y="6457847"/>
            <a:ext cx="7424737" cy="40015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44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46583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Tx/>
              <a:buNone/>
              <a:defRPr sz="1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69198" y="4814634"/>
            <a:ext cx="8436135" cy="4301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800" b="1" baseline="0">
                <a:solidFill>
                  <a:srgbClr val="FFFFFF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523999"/>
            <a:ext cx="8436135" cy="29063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6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369199" y="5853545"/>
            <a:ext cx="5205433" cy="66579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>
                <a:solidFill>
                  <a:srgbClr val="FFFFFF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9" y="5244817"/>
            <a:ext cx="8436134" cy="47018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aseline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Click to Add a Presentation Subtitle</a:t>
            </a:r>
          </a:p>
        </p:txBody>
      </p:sp>
      <p:pic>
        <p:nvPicPr>
          <p:cNvPr id="12" name="Picture 11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568" y="5833872"/>
            <a:ext cx="3337560" cy="9271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>
          <a:xfrm>
            <a:off x="369198" y="6457847"/>
            <a:ext cx="5205434" cy="40015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187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Ver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576455" cy="68580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Tx/>
              <a:buNone/>
              <a:defRPr sz="1600">
                <a:solidFill>
                  <a:srgbClr val="FFFFFF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5687786" y="1919101"/>
            <a:ext cx="3347357" cy="8830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rgbClr val="FFFFFF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4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5687785" y="2783302"/>
            <a:ext cx="3347357" cy="1000129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>
                <a:solidFill>
                  <a:srgbClr val="FFFFFF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687784" y="1015999"/>
            <a:ext cx="3347359" cy="85687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tabLst/>
              <a:defRPr sz="14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</a:t>
            </a:r>
            <a:br>
              <a:rPr lang="en-US" dirty="0"/>
            </a:br>
            <a:r>
              <a:rPr lang="en-US" dirty="0"/>
              <a:t>Mission Name (optional)</a:t>
            </a:r>
          </a:p>
        </p:txBody>
      </p:sp>
      <p:pic>
        <p:nvPicPr>
          <p:cNvPr id="10" name="Picture 9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568" y="5367528"/>
            <a:ext cx="3337560" cy="92710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22"/>
          </p:nvPr>
        </p:nvSpPr>
        <p:spPr>
          <a:xfrm>
            <a:off x="5687786" y="6457847"/>
            <a:ext cx="3337342" cy="400153"/>
          </a:xfrm>
        </p:spPr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975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457199" y="1600198"/>
            <a:ext cx="82296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D0CFA6C-C905-4CE6-8F29-E518B3A4900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2548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199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FE916D4-FE10-4894-87E7-CA9E1947A78F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6311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457199" y="1600198"/>
            <a:ext cx="82296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53A224B-3B24-415A-9C5D-3D6E00A3FF74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7876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C04E157-CB0C-46CE-9A67-61A6EF47F9F4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926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9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5E76156-1A7E-4910-A233-557DE26571FD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0268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3" name="Content Placeholder 14"/>
          <p:cNvSpPr>
            <a:spLocks noGrp="1"/>
          </p:cNvSpPr>
          <p:nvPr>
            <p:ph sz="quarter" idx="21"/>
          </p:nvPr>
        </p:nvSpPr>
        <p:spPr>
          <a:xfrm>
            <a:off x="457200" y="1599449"/>
            <a:ext cx="4038600" cy="4526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4"/>
          <p:cNvSpPr>
            <a:spLocks noGrp="1"/>
          </p:cNvSpPr>
          <p:nvPr>
            <p:ph sz="quarter" idx="22"/>
          </p:nvPr>
        </p:nvSpPr>
        <p:spPr>
          <a:xfrm>
            <a:off x="4648200" y="1599449"/>
            <a:ext cx="4038600" cy="4526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F405632E-B367-44E1-8DB2-CBF13D1185CB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945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3" name="Content Placeholder 14"/>
          <p:cNvSpPr>
            <a:spLocks noGrp="1"/>
          </p:cNvSpPr>
          <p:nvPr>
            <p:ph sz="quarter" idx="21"/>
          </p:nvPr>
        </p:nvSpPr>
        <p:spPr>
          <a:xfrm>
            <a:off x="457200" y="2174875"/>
            <a:ext cx="4038600" cy="395128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4"/>
          <p:cNvSpPr>
            <a:spLocks noGrp="1"/>
          </p:cNvSpPr>
          <p:nvPr>
            <p:ph sz="quarter" idx="22"/>
          </p:nvPr>
        </p:nvSpPr>
        <p:spPr>
          <a:xfrm>
            <a:off x="4648200" y="2174875"/>
            <a:ext cx="4038600" cy="395128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A74FDDA-8CF7-4FC6-9FF0-CED0235A8996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689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3575050" y="1596524"/>
            <a:ext cx="5111750" cy="4405898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758573"/>
            <a:ext cx="3008313" cy="3243849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457200" y="1596524"/>
            <a:ext cx="3008313" cy="1162049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A8D7B5DD-001E-479D-B143-6C803CA737BD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356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590842"/>
            <a:ext cx="5486400" cy="33839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614565"/>
            <a:ext cx="5486400" cy="52154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1792288" y="4974802"/>
            <a:ext cx="5486400" cy="631073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23EFDEE-49DB-415A-9521-63554B5828EC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8757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White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92FF433-B518-4A9F-980A-B71A0C6C4EF5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685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Dar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AE082B8-3C61-4373-9DE0-EDC4118D84C2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462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3DD3-C229-4FB1-9CAD-1EFC9002908B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9981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8107" y="2537619"/>
            <a:ext cx="8227786" cy="1782763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 sz="4800" baseline="0">
                <a:solidFill>
                  <a:srgbClr val="FFFFFF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add section header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683806E-C00F-4ACD-B82E-06BD6C2EF7D0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553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Dark Gray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8107" y="2537619"/>
            <a:ext cx="8227786" cy="1782763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 sz="4800" baseline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add section header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AF8C95-80B3-4F5E-BCBD-AAB50D362A32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773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34D7-A090-4C17-9299-DE4097C6BA85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982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276323" y="3654169"/>
            <a:ext cx="4581678" cy="0"/>
          </a:xfrm>
          <a:prstGeom prst="line">
            <a:avLst/>
          </a:prstGeom>
          <a:ln w="63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" y="3863419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5" name="Picture 4" descr="Tribrand_ColorWhite_rgb_16x3_1606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323" y="2381478"/>
            <a:ext cx="4581684" cy="127269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B6D65-D32F-46AC-A6C9-EFCCADB751AD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2885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ribrand_ColorWhite_rgb_16x3_1606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323" y="2792655"/>
            <a:ext cx="4581684" cy="127269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F3FD-AAA5-492B-BB53-7B35F6475034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119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F408614E-6C62-4D67-915C-43E35F4C718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1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9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For required markings, please visit https://mh.jpl.nasa.gov</a:t>
            </a:r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1" r:id="rId2"/>
    <p:sldLayoutId id="2147483983" r:id="rId3"/>
    <p:sldLayoutId id="2147484001" r:id="rId4"/>
    <p:sldLayoutId id="2147483985" r:id="rId5"/>
    <p:sldLayoutId id="2147483987" r:id="rId6"/>
    <p:sldLayoutId id="2147483986" r:id="rId7"/>
    <p:sldLayoutId id="2147483988" r:id="rId8"/>
    <p:sldLayoutId id="2147483997" r:id="rId9"/>
    <p:sldLayoutId id="2147483998" r:id="rId10"/>
    <p:sldLayoutId id="2147483999" r:id="rId11"/>
    <p:sldLayoutId id="2147484000" r:id="rId12"/>
    <p:sldLayoutId id="2147483989" r:id="rId13"/>
    <p:sldLayoutId id="2147483991" r:id="rId14"/>
    <p:sldLayoutId id="2147483993" r:id="rId15"/>
    <p:sldLayoutId id="2147483994" r:id="rId16"/>
    <p:sldLayoutId id="2147483995" r:id="rId17"/>
    <p:sldLayoutId id="2147483996" r:id="rId18"/>
    <p:sldLayoutId id="2147483984" r:id="rId19"/>
    <p:sldLayoutId id="2147484022" r:id="rId2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800" b="1" i="0" u="none" kern="1200" cap="none" spc="0" baseline="0">
          <a:ln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30188" indent="-230188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20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8277347-0A92-4237-B748-B27D77FE6A9E}" type="datetime1">
              <a:rPr lang="en-US" smtClean="0"/>
              <a:t>2/15/2023</a:t>
            </a:fld>
            <a:endParaRPr lang="en-US" dirty="0"/>
          </a:p>
        </p:txBody>
      </p:sp>
      <p:sp>
        <p:nvSpPr>
          <p:cNvPr id="1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900">
                <a:solidFill>
                  <a:schemeClr val="accent4"/>
                </a:solidFill>
              </a:defRPr>
            </a:lvl1pPr>
          </a:lstStyle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459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16" r:id="rId14"/>
    <p:sldLayoutId id="2147484017" r:id="rId15"/>
    <p:sldLayoutId id="2147484018" r:id="rId16"/>
    <p:sldLayoutId id="2147484019" r:id="rId17"/>
    <p:sldLayoutId id="2147484020" r:id="rId18"/>
    <p:sldLayoutId id="2147484021" r:id="rId19"/>
    <p:sldLayoutId id="2147484023" r:id="rId2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800" b="1" kern="1200" cap="none" spc="0" baseline="0">
          <a:ln>
            <a:noFill/>
          </a:ln>
          <a:solidFill>
            <a:srgbClr val="FFFFFF"/>
          </a:solidFill>
          <a:effectLst/>
          <a:latin typeface="+mj-lt"/>
          <a:ea typeface="+mj-ea"/>
          <a:cs typeface="+mj-cs"/>
        </a:defRPr>
      </a:lvl1pPr>
    </p:titleStyle>
    <p:bodyStyle>
      <a:lvl1pPr marL="230188" indent="-230188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2200" kern="1200">
          <a:solidFill>
            <a:srgbClr val="FFFFFF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600" kern="1200">
          <a:solidFill>
            <a:srgbClr val="FFFFFF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rgbClr val="FFFFFF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Photo-2015-03-12-085758 - D2015_0302_D370_CMSalt2.jpg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17" b="6483"/>
          <a:stretch/>
        </p:blipFill>
        <p:spPr/>
      </p:pic>
      <p:sp>
        <p:nvSpPr>
          <p:cNvPr id="2" name="Text Placeholder 1"/>
          <p:cNvSpPr>
            <a:spLocks noGrp="1"/>
          </p:cNvSpPr>
          <p:nvPr>
            <p:ph type="body" sz="quarter" idx="3"/>
          </p:nvPr>
        </p:nvSpPr>
        <p:spPr>
          <a:xfrm>
            <a:off x="369198" y="4507768"/>
            <a:ext cx="8436135" cy="501892"/>
          </a:xfrm>
        </p:spPr>
        <p:txBody>
          <a:bodyPr/>
          <a:lstStyle/>
          <a:p>
            <a:r>
              <a:rPr lang="en-US" dirty="0"/>
              <a:t>Ingenium IEEE 2023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369198" y="5573168"/>
            <a:ext cx="5557715" cy="946169"/>
          </a:xfrm>
        </p:spPr>
        <p:txBody>
          <a:bodyPr/>
          <a:lstStyle/>
          <a:p>
            <a:r>
              <a:rPr lang="en-US" dirty="0"/>
              <a:t>Christopher Swan, Jet Propulsion Laboratory, California Institute of Technology</a:t>
            </a:r>
          </a:p>
          <a:p>
            <a:r>
              <a:rPr lang="en-US" dirty="0"/>
              <a:t>Hongman Kim, Jet Propulsion Laboratory, California Institute of Technology</a:t>
            </a:r>
          </a:p>
          <a:p>
            <a:r>
              <a:rPr lang="en-US" dirty="0"/>
              <a:t>March 2023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369199" y="4961419"/>
            <a:ext cx="8436134" cy="739362"/>
          </a:xfrm>
        </p:spPr>
        <p:txBody>
          <a:bodyPr/>
          <a:lstStyle/>
          <a:p>
            <a:r>
              <a:rPr lang="en-US" dirty="0"/>
              <a:t>Enabling standardized, efficient system level test campaigns via the Ingenium electronic procedure system.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336842" y="-77536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>
          <a:xfrm>
            <a:off x="369197" y="6457847"/>
            <a:ext cx="5631135" cy="400153"/>
          </a:xfrm>
        </p:spPr>
        <p:txBody>
          <a:bodyPr/>
          <a:lstStyle/>
          <a:p>
            <a:r>
              <a:rPr lang="en-US" dirty="0"/>
              <a:t>This document has been reviewed and determined not to contain export controlled technical data.</a:t>
            </a:r>
          </a:p>
        </p:txBody>
      </p:sp>
    </p:spTree>
    <p:extLst>
      <p:ext uri="{BB962C8B-B14F-4D97-AF65-F5344CB8AC3E}">
        <p14:creationId xmlns:p14="http://schemas.microsoft.com/office/powerpoint/2010/main" val="2138060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972E19B-DF9B-4520-B181-30E1FC9F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E95298B-2959-473B-AE5F-3C0AE02E3F5F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Genesis</a:t>
            </a:r>
          </a:p>
          <a:p>
            <a:r>
              <a:rPr lang="en-US" dirty="0"/>
              <a:t>What is Ingenium?</a:t>
            </a:r>
          </a:p>
          <a:p>
            <a:r>
              <a:rPr lang="en-US" dirty="0"/>
              <a:t>Ingenium Capabilities</a:t>
            </a:r>
          </a:p>
          <a:p>
            <a:r>
              <a:rPr lang="en-US" dirty="0"/>
              <a:t>Ingenium Architecture</a:t>
            </a:r>
          </a:p>
          <a:p>
            <a:r>
              <a:rPr lang="en-US" dirty="0"/>
              <a:t>Project Adoption</a:t>
            </a:r>
          </a:p>
          <a:p>
            <a:r>
              <a:rPr lang="en-US" dirty="0"/>
              <a:t>Mission Enabling</a:t>
            </a:r>
          </a:p>
          <a:p>
            <a:r>
              <a:rPr lang="en-US" dirty="0"/>
              <a:t>Future Work and Development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950142D-D053-4E75-8CA3-3BD0EEE3B3AC}" type="datetime1">
              <a:rPr lang="en-US" smtClean="0"/>
              <a:t>2/20/2023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C8B6DFB-0BE8-47B5-8302-F1677638EA1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D193B1F-454F-4470-8937-9D53DC78F32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85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B5B181-A729-46FE-A7A5-A4392E731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Genesis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CE51E1-0748-49F3-A67C-6743E054B3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8F7BE3-5B76-4AAE-9183-216F7257A48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50258" y="972152"/>
            <a:ext cx="4254366" cy="5154011"/>
          </a:xfrm>
        </p:spPr>
        <p:txBody>
          <a:bodyPr/>
          <a:lstStyle/>
          <a:p>
            <a:r>
              <a:rPr lang="en-US" sz="1400" dirty="0"/>
              <a:t>Procedure development methods and associated tooling has been largely ad-hoc</a:t>
            </a:r>
          </a:p>
          <a:p>
            <a:pPr lvl="1"/>
            <a:r>
              <a:rPr lang="en-US" sz="1200" dirty="0"/>
              <a:t>Little or no official support</a:t>
            </a:r>
          </a:p>
          <a:p>
            <a:pPr lvl="1"/>
            <a:r>
              <a:rPr lang="en-US" sz="1200" dirty="0"/>
              <a:t>Often do not completely align with institutional policy for procedure development. (e.g. Redlines) or software development processes </a:t>
            </a:r>
          </a:p>
          <a:p>
            <a:r>
              <a:rPr lang="en-US" sz="1400" dirty="0"/>
              <a:t>Methods often varies between projects, and teams within projects.</a:t>
            </a:r>
          </a:p>
          <a:p>
            <a:pPr lvl="1"/>
            <a:r>
              <a:rPr lang="en-US" sz="1200" dirty="0"/>
              <a:t>Can require rework if procedures move from one team to another (e.g. testbed -&gt; ATLO)</a:t>
            </a:r>
          </a:p>
          <a:p>
            <a:pPr lvl="1"/>
            <a:r>
              <a:rPr lang="en-US" sz="1200" dirty="0"/>
              <a:t>More difficult to share staff across projects and teams.</a:t>
            </a:r>
          </a:p>
          <a:p>
            <a:r>
              <a:rPr lang="en-US" sz="1400" dirty="0"/>
              <a:t>Different methods require different skill sets and different processes to implement effectively</a:t>
            </a:r>
          </a:p>
          <a:p>
            <a:pPr lvl="1"/>
            <a:r>
              <a:rPr lang="en-US" sz="1200" dirty="0"/>
              <a:t>This can be challenging given the wide range of skill sets involved with I&amp;T.</a:t>
            </a:r>
            <a:endParaRPr lang="en-US" sz="1050" dirty="0"/>
          </a:p>
          <a:p>
            <a:pPr lvl="1"/>
            <a:r>
              <a:rPr lang="en-US" sz="1200" dirty="0"/>
              <a:t>As this can vary between projects/teams this is doubly difficult</a:t>
            </a:r>
          </a:p>
          <a:p>
            <a:r>
              <a:rPr lang="en-US" sz="1400" dirty="0"/>
              <a:t>Different methods vary in their efficiency and capabilities</a:t>
            </a:r>
          </a:p>
          <a:p>
            <a:pPr lvl="1"/>
            <a:r>
              <a:rPr lang="en-US" sz="1200" dirty="0"/>
              <a:t>Manual/Paper method require an operator to translates between procedure and GDS (ground data system) impacting speed and reliability</a:t>
            </a:r>
          </a:p>
          <a:p>
            <a:pPr lvl="1"/>
            <a:r>
              <a:rPr lang="en-US" sz="1200" dirty="0"/>
              <a:t>Fully scripted solutions do not provide sufficient control over test execution for teams working with Flight Hardware</a:t>
            </a:r>
          </a:p>
          <a:p>
            <a:pPr lvl="1"/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66A8-8A11-4E01-919E-4F07E131548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8EF9E-59DB-4C97-B686-92B2344B893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4971F-EB0A-474A-945D-FDD002814CE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A62FEA-5C79-4145-87CE-C577E1ECF932}"/>
              </a:ext>
            </a:extLst>
          </p:cNvPr>
          <p:cNvSpPr/>
          <p:nvPr/>
        </p:nvSpPr>
        <p:spPr>
          <a:xfrm>
            <a:off x="6155424" y="2130079"/>
            <a:ext cx="1178805" cy="55084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MSL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7E8EFD-CCF2-463D-BDC2-4757057C94C1}"/>
              </a:ext>
            </a:extLst>
          </p:cNvPr>
          <p:cNvSpPr/>
          <p:nvPr/>
        </p:nvSpPr>
        <p:spPr>
          <a:xfrm>
            <a:off x="6296004" y="5061587"/>
            <a:ext cx="1178805" cy="55084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M2020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8C1A6F-49B2-4378-A84D-93184358A6D3}"/>
              </a:ext>
            </a:extLst>
          </p:cNvPr>
          <p:cNvSpPr/>
          <p:nvPr/>
        </p:nvSpPr>
        <p:spPr>
          <a:xfrm>
            <a:off x="7557570" y="5607536"/>
            <a:ext cx="1410162" cy="55084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ATLO/Robot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B9E0C8-16C3-4516-9660-8ABF57F9AB79}"/>
              </a:ext>
            </a:extLst>
          </p:cNvPr>
          <p:cNvSpPr/>
          <p:nvPr/>
        </p:nvSpPr>
        <p:spPr>
          <a:xfrm>
            <a:off x="4780724" y="5607828"/>
            <a:ext cx="1410162" cy="55084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ATLO/Paper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0F919D-6C3C-4CE4-BB6C-57A1856D34D7}"/>
              </a:ext>
            </a:extLst>
          </p:cNvPr>
          <p:cNvSpPr/>
          <p:nvPr/>
        </p:nvSpPr>
        <p:spPr>
          <a:xfrm>
            <a:off x="7203799" y="4326490"/>
            <a:ext cx="1809424" cy="55084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Testbed/</a:t>
            </a:r>
            <a:r>
              <a:rPr lang="en-US" sz="1600" dirty="0" err="1"/>
              <a:t>Jupyter</a:t>
            </a:r>
            <a:endParaRPr lang="en-US" sz="1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73368E-53D6-4A6B-A115-2F89B2226F33}"/>
              </a:ext>
            </a:extLst>
          </p:cNvPr>
          <p:cNvSpPr/>
          <p:nvPr/>
        </p:nvSpPr>
        <p:spPr>
          <a:xfrm>
            <a:off x="4467461" y="4327004"/>
            <a:ext cx="1679404" cy="55084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Testbed/Python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C0FC711-ECB0-4B27-80D3-4CBDE20FB79F}"/>
              </a:ext>
            </a:extLst>
          </p:cNvPr>
          <p:cNvSpPr/>
          <p:nvPr/>
        </p:nvSpPr>
        <p:spPr>
          <a:xfrm>
            <a:off x="6086385" y="3646454"/>
            <a:ext cx="1598041" cy="55084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Testbed/Paper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748959-EF92-4D8C-83B2-ECA0E2D25D8C}"/>
              </a:ext>
            </a:extLst>
          </p:cNvPr>
          <p:cNvSpPr/>
          <p:nvPr/>
        </p:nvSpPr>
        <p:spPr>
          <a:xfrm>
            <a:off x="7415182" y="2764178"/>
            <a:ext cx="1598041" cy="55084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ATLO/Baseline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5AAC7A6-6F99-4900-9362-332B5E5B0CCE}"/>
              </a:ext>
            </a:extLst>
          </p:cNvPr>
          <p:cNvSpPr/>
          <p:nvPr/>
        </p:nvSpPr>
        <p:spPr>
          <a:xfrm>
            <a:off x="4764550" y="2775315"/>
            <a:ext cx="1390874" cy="55084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ATLO/Paper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9E521C1-830D-474D-A2CF-9278C03C171C}"/>
              </a:ext>
            </a:extLst>
          </p:cNvPr>
          <p:cNvSpPr/>
          <p:nvPr/>
        </p:nvSpPr>
        <p:spPr>
          <a:xfrm>
            <a:off x="5959529" y="836774"/>
            <a:ext cx="1598041" cy="55084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Testbed/Paper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460EDA-10F1-4185-B445-EAAD62B4435A}"/>
              </a:ext>
            </a:extLst>
          </p:cNvPr>
          <p:cNvSpPr/>
          <p:nvPr/>
        </p:nvSpPr>
        <p:spPr>
          <a:xfrm>
            <a:off x="4467460" y="1500324"/>
            <a:ext cx="1679404" cy="55084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Testbed/Python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394B9D3-1536-41F2-807B-4709CFECB61C}"/>
              </a:ext>
            </a:extLst>
          </p:cNvPr>
          <p:cNvSpPr/>
          <p:nvPr/>
        </p:nvSpPr>
        <p:spPr>
          <a:xfrm>
            <a:off x="7397674" y="1500324"/>
            <a:ext cx="1570058" cy="55084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Testbed/CASP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5019144-384C-4FB4-8DAA-6908EF23E12C}"/>
              </a:ext>
            </a:extLst>
          </p:cNvPr>
          <p:cNvCxnSpPr>
            <a:stCxn id="19" idx="2"/>
            <a:endCxn id="10" idx="0"/>
          </p:cNvCxnSpPr>
          <p:nvPr/>
        </p:nvCxnSpPr>
        <p:spPr>
          <a:xfrm flipH="1">
            <a:off x="6744827" y="1387618"/>
            <a:ext cx="13723" cy="742461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ABC344-ED14-4443-A792-4BCFA0ED7730}"/>
              </a:ext>
            </a:extLst>
          </p:cNvPr>
          <p:cNvCxnSpPr>
            <a:cxnSpLocks/>
            <a:stCxn id="21" idx="2"/>
            <a:endCxn id="10" idx="3"/>
          </p:cNvCxnSpPr>
          <p:nvPr/>
        </p:nvCxnSpPr>
        <p:spPr>
          <a:xfrm flipH="1">
            <a:off x="7334229" y="2051168"/>
            <a:ext cx="848474" cy="354333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6EDAA4-E312-4EFE-A560-3537CFAEC285}"/>
              </a:ext>
            </a:extLst>
          </p:cNvPr>
          <p:cNvCxnSpPr>
            <a:cxnSpLocks/>
            <a:stCxn id="20" idx="2"/>
            <a:endCxn id="10" idx="1"/>
          </p:cNvCxnSpPr>
          <p:nvPr/>
        </p:nvCxnSpPr>
        <p:spPr>
          <a:xfrm>
            <a:off x="5307162" y="2051168"/>
            <a:ext cx="848262" cy="354333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46AED7-6BDA-461A-9C50-1B7A96656E2E}"/>
              </a:ext>
            </a:extLst>
          </p:cNvPr>
          <p:cNvCxnSpPr>
            <a:stCxn id="18" idx="3"/>
            <a:endCxn id="10" idx="2"/>
          </p:cNvCxnSpPr>
          <p:nvPr/>
        </p:nvCxnSpPr>
        <p:spPr>
          <a:xfrm flipV="1">
            <a:off x="6155424" y="2680923"/>
            <a:ext cx="589403" cy="369814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56AF046-6493-4EE1-9E8E-3EDBB55C24E7}"/>
              </a:ext>
            </a:extLst>
          </p:cNvPr>
          <p:cNvCxnSpPr>
            <a:stCxn id="17" idx="1"/>
            <a:endCxn id="10" idx="2"/>
          </p:cNvCxnSpPr>
          <p:nvPr/>
        </p:nvCxnSpPr>
        <p:spPr>
          <a:xfrm flipH="1" flipV="1">
            <a:off x="6744827" y="2680923"/>
            <a:ext cx="670355" cy="358677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589A0AC-14F1-464E-9C9C-AE95D61C49A3}"/>
              </a:ext>
            </a:extLst>
          </p:cNvPr>
          <p:cNvCxnSpPr>
            <a:stCxn id="16" idx="2"/>
            <a:endCxn id="11" idx="0"/>
          </p:cNvCxnSpPr>
          <p:nvPr/>
        </p:nvCxnSpPr>
        <p:spPr>
          <a:xfrm>
            <a:off x="6885406" y="4197298"/>
            <a:ext cx="1" cy="864289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B2D2B4A-7246-4520-941C-8FE53DF7A6F7}"/>
              </a:ext>
            </a:extLst>
          </p:cNvPr>
          <p:cNvCxnSpPr>
            <a:stCxn id="14" idx="2"/>
            <a:endCxn id="11" idx="3"/>
          </p:cNvCxnSpPr>
          <p:nvPr/>
        </p:nvCxnSpPr>
        <p:spPr>
          <a:xfrm flipH="1">
            <a:off x="7474809" y="4877334"/>
            <a:ext cx="633702" cy="459675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D86DAF5-99DD-4AA3-B08D-44E4A532B84E}"/>
              </a:ext>
            </a:extLst>
          </p:cNvPr>
          <p:cNvCxnSpPr>
            <a:cxnSpLocks/>
            <a:stCxn id="15" idx="2"/>
            <a:endCxn id="11" idx="1"/>
          </p:cNvCxnSpPr>
          <p:nvPr/>
        </p:nvCxnSpPr>
        <p:spPr>
          <a:xfrm>
            <a:off x="5307163" y="4877848"/>
            <a:ext cx="988841" cy="459161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2924D3-9F2E-43F9-8B5F-A7A9C66523A5}"/>
              </a:ext>
            </a:extLst>
          </p:cNvPr>
          <p:cNvCxnSpPr>
            <a:stCxn id="13" idx="3"/>
            <a:endCxn id="11" idx="2"/>
          </p:cNvCxnSpPr>
          <p:nvPr/>
        </p:nvCxnSpPr>
        <p:spPr>
          <a:xfrm flipV="1">
            <a:off x="6190886" y="5612431"/>
            <a:ext cx="694521" cy="270819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8147747-21F8-4DE5-BAF7-1559E14204AF}"/>
              </a:ext>
            </a:extLst>
          </p:cNvPr>
          <p:cNvCxnSpPr>
            <a:stCxn id="12" idx="1"/>
            <a:endCxn id="11" idx="2"/>
          </p:cNvCxnSpPr>
          <p:nvPr/>
        </p:nvCxnSpPr>
        <p:spPr>
          <a:xfrm flipH="1" flipV="1">
            <a:off x="6885407" y="5612431"/>
            <a:ext cx="672163" cy="270527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1900517-A75A-41E3-BED0-FE934D0D4195}"/>
              </a:ext>
            </a:extLst>
          </p:cNvPr>
          <p:cNvSpPr txBox="1"/>
          <p:nvPr/>
        </p:nvSpPr>
        <p:spPr>
          <a:xfrm>
            <a:off x="5698957" y="4689954"/>
            <a:ext cx="799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/>
                <a:cs typeface="Arial"/>
              </a:rPr>
              <a:t>Code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BADB60-2CC9-4E8F-80A7-3BC0315ACA97}"/>
              </a:ext>
            </a:extLst>
          </p:cNvPr>
          <p:cNvSpPr txBox="1"/>
          <p:nvPr/>
        </p:nvSpPr>
        <p:spPr>
          <a:xfrm>
            <a:off x="7916263" y="3079939"/>
            <a:ext cx="109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/>
                <a:cs typeface="Arial"/>
              </a:rPr>
              <a:t>No Code /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683C7E-5618-4997-BE7C-F813723B67F8}"/>
              </a:ext>
            </a:extLst>
          </p:cNvPr>
          <p:cNvSpPr txBox="1"/>
          <p:nvPr/>
        </p:nvSpPr>
        <p:spPr>
          <a:xfrm>
            <a:off x="5699811" y="1825494"/>
            <a:ext cx="594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/>
                <a:cs typeface="Arial"/>
              </a:rPr>
              <a:t>Code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B132B9-1B40-45FC-84F2-8EEC94BAB087}"/>
              </a:ext>
            </a:extLst>
          </p:cNvPr>
          <p:cNvSpPr txBox="1"/>
          <p:nvPr/>
        </p:nvSpPr>
        <p:spPr>
          <a:xfrm>
            <a:off x="5507809" y="3102603"/>
            <a:ext cx="703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/>
                <a:cs typeface="Arial"/>
              </a:rPr>
              <a:t>No Code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8C72A5-D3FC-4703-AA09-A4BD730C3BCF}"/>
              </a:ext>
            </a:extLst>
          </p:cNvPr>
          <p:cNvSpPr txBox="1"/>
          <p:nvPr/>
        </p:nvSpPr>
        <p:spPr>
          <a:xfrm>
            <a:off x="8246149" y="1829764"/>
            <a:ext cx="7679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/>
                <a:cs typeface="Arial"/>
              </a:rPr>
              <a:t>Low Code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FDF7B5-DCE7-4A47-865D-8BF46D5D274D}"/>
              </a:ext>
            </a:extLst>
          </p:cNvPr>
          <p:cNvSpPr txBox="1"/>
          <p:nvPr/>
        </p:nvSpPr>
        <p:spPr>
          <a:xfrm>
            <a:off x="6920831" y="1166463"/>
            <a:ext cx="703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/>
                <a:cs typeface="Arial"/>
              </a:rPr>
              <a:t>No Code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78CD38-10DE-415D-8D90-C853228B2430}"/>
              </a:ext>
            </a:extLst>
          </p:cNvPr>
          <p:cNvSpPr txBox="1"/>
          <p:nvPr/>
        </p:nvSpPr>
        <p:spPr>
          <a:xfrm>
            <a:off x="8262651" y="5938782"/>
            <a:ext cx="7679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/>
                <a:cs typeface="Arial"/>
              </a:rPr>
              <a:t>Low Code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500F59-77D9-46ED-BAD4-D28E032FB1D4}"/>
              </a:ext>
            </a:extLst>
          </p:cNvPr>
          <p:cNvSpPr txBox="1"/>
          <p:nvPr/>
        </p:nvSpPr>
        <p:spPr>
          <a:xfrm>
            <a:off x="8552691" y="4674928"/>
            <a:ext cx="594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/>
                <a:cs typeface="Arial"/>
              </a:rPr>
              <a:t>Code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438DCF-7CDD-4E0F-8346-611E57AEA52A}"/>
              </a:ext>
            </a:extLst>
          </p:cNvPr>
          <p:cNvSpPr txBox="1"/>
          <p:nvPr/>
        </p:nvSpPr>
        <p:spPr>
          <a:xfrm>
            <a:off x="7056480" y="3999037"/>
            <a:ext cx="703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/>
                <a:cs typeface="Arial"/>
              </a:rPr>
              <a:t>No Code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4FED42-E651-4075-A9FE-62EF55A60586}"/>
              </a:ext>
            </a:extLst>
          </p:cNvPr>
          <p:cNvSpPr txBox="1"/>
          <p:nvPr/>
        </p:nvSpPr>
        <p:spPr>
          <a:xfrm>
            <a:off x="5569682" y="5936204"/>
            <a:ext cx="703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/>
                <a:cs typeface="Arial"/>
              </a:rPr>
              <a:t>No Code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1D24E1-762B-4208-980D-7E77FAA579C2}"/>
              </a:ext>
            </a:extLst>
          </p:cNvPr>
          <p:cNvSpPr txBox="1"/>
          <p:nvPr/>
        </p:nvSpPr>
        <p:spPr>
          <a:xfrm>
            <a:off x="6538146" y="3283996"/>
            <a:ext cx="2552383" cy="19759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r"/>
            <a:r>
              <a:rPr lang="en-US" sz="900" dirty="0"/>
              <a:t>No code to run, Code to modify/create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6E99FE-A3C6-46E9-AC28-EEAA6D1BCFBE}"/>
              </a:ext>
            </a:extLst>
          </p:cNvPr>
          <p:cNvSpPr txBox="1"/>
          <p:nvPr/>
        </p:nvSpPr>
        <p:spPr>
          <a:xfrm>
            <a:off x="6198966" y="2458455"/>
            <a:ext cx="109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/>
                <a:cs typeface="Arial"/>
              </a:rPr>
              <a:t>(Curiosity)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84A4A4-C79E-43DE-84DE-17AEC2AA84D1}"/>
              </a:ext>
            </a:extLst>
          </p:cNvPr>
          <p:cNvSpPr txBox="1"/>
          <p:nvPr/>
        </p:nvSpPr>
        <p:spPr>
          <a:xfrm>
            <a:off x="6338381" y="5387409"/>
            <a:ext cx="109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/>
                <a:cs typeface="Arial"/>
              </a:rPr>
              <a:t>(Perseverance)</a:t>
            </a:r>
          </a:p>
        </p:txBody>
      </p:sp>
    </p:spTree>
    <p:extLst>
      <p:ext uri="{BB962C8B-B14F-4D97-AF65-F5344CB8AC3E}">
        <p14:creationId xmlns:p14="http://schemas.microsoft.com/office/powerpoint/2010/main" val="277785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018A5651-5407-4823-86C5-C1DABDEED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Ingenium?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DF28EBA-A3C3-490C-A605-F4CFF85110D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039724"/>
            <a:ext cx="4365089" cy="5086439"/>
          </a:xfrm>
        </p:spPr>
        <p:txBody>
          <a:bodyPr/>
          <a:lstStyle/>
          <a:p>
            <a:r>
              <a:rPr lang="en-US" sz="1400" b="1" dirty="0"/>
              <a:t>Multi-Mission, Executable, Electronic Procedure System for System Level Integration and Test </a:t>
            </a:r>
          </a:p>
          <a:p>
            <a:r>
              <a:rPr lang="en-US" sz="1400" dirty="0"/>
              <a:t>Web application with rich user interface</a:t>
            </a:r>
          </a:p>
          <a:p>
            <a:pPr lvl="1"/>
            <a:r>
              <a:rPr lang="en-US" sz="1200" dirty="0"/>
              <a:t>Drag and drop, copy/paste, search and replace</a:t>
            </a:r>
          </a:p>
          <a:p>
            <a:r>
              <a:rPr lang="en-US" sz="1400" dirty="0"/>
              <a:t>Common format across test venues and teams</a:t>
            </a:r>
          </a:p>
          <a:p>
            <a:pPr lvl="1"/>
            <a:r>
              <a:rPr lang="en-US" sz="1200" dirty="0"/>
              <a:t>Visually and electronically</a:t>
            </a:r>
            <a:endParaRPr lang="en-US" sz="1000" dirty="0"/>
          </a:p>
          <a:p>
            <a:r>
              <a:rPr lang="en-US" sz="1400" dirty="0"/>
              <a:t>Replaces paper test procedures with executable electronic  procedure (that looks and feels like paper procedure)</a:t>
            </a:r>
          </a:p>
          <a:p>
            <a:r>
              <a:rPr lang="en-US" sz="1400" dirty="0"/>
              <a:t>Directly interfaces with JPL ground data system (GDS) to send commands and query telemetry.</a:t>
            </a:r>
          </a:p>
          <a:p>
            <a:pPr lvl="1"/>
            <a:r>
              <a:rPr lang="en-US" sz="1200" dirty="0"/>
              <a:t>Removes manual interactions that drive execution time and errors.</a:t>
            </a:r>
          </a:p>
          <a:p>
            <a:r>
              <a:rPr lang="en-US" sz="1400" dirty="0"/>
              <a:t>Provides much of the functionality of scripted procedures without any code.</a:t>
            </a:r>
          </a:p>
          <a:p>
            <a:r>
              <a:rPr lang="en-US" sz="1400" dirty="0"/>
              <a:t>Integrates with project data sources such as command/telemetry dictionary and requirements</a:t>
            </a:r>
          </a:p>
          <a:p>
            <a:pPr lvl="1"/>
            <a:r>
              <a:rPr lang="en-US" sz="1200" dirty="0"/>
              <a:t>Assists in procedure development</a:t>
            </a:r>
          </a:p>
          <a:p>
            <a:r>
              <a:rPr lang="en-US" sz="1400" dirty="0"/>
              <a:t>Enforces procedure policy regarding tactical change management.</a:t>
            </a:r>
          </a:p>
          <a:p>
            <a:pPr lvl="1"/>
            <a:r>
              <a:rPr lang="en-US" sz="1200" dirty="0"/>
              <a:t>E.g. Redlines/Bluelines</a:t>
            </a:r>
          </a:p>
          <a:p>
            <a:r>
              <a:rPr lang="en-US" sz="1400" dirty="0"/>
              <a:t>Delivered software, with support and training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831FFD-3196-41D7-AB0D-D9126604A5B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2/20/2023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7D8818-5F34-491A-B8E5-52EE94C14F4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BC84DF-DEF9-4CA4-A44A-C42AD052F9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E40B0F1-771C-4CB6-BE8A-EF4900257533}"/>
              </a:ext>
            </a:extLst>
          </p:cNvPr>
          <p:cNvSpPr/>
          <p:nvPr/>
        </p:nvSpPr>
        <p:spPr>
          <a:xfrm>
            <a:off x="5939901" y="2394814"/>
            <a:ext cx="1851251" cy="571879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Europa/Psyche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417564-FF5D-4CCA-97EB-94F18E707F0C}"/>
              </a:ext>
            </a:extLst>
          </p:cNvPr>
          <p:cNvSpPr/>
          <p:nvPr/>
        </p:nvSpPr>
        <p:spPr>
          <a:xfrm>
            <a:off x="5670197" y="1324510"/>
            <a:ext cx="2390660" cy="80680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Testbed and ATLO </a:t>
            </a:r>
            <a:r>
              <a:rPr lang="en-US" dirty="0" err="1"/>
              <a:t>Ingenium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116EBC-17B2-41F4-B657-0CA61FF2ACA7}"/>
              </a:ext>
            </a:extLst>
          </p:cNvPr>
          <p:cNvCxnSpPr>
            <a:cxnSpLocks/>
            <a:stCxn id="19" idx="2"/>
            <a:endCxn id="18" idx="0"/>
          </p:cNvCxnSpPr>
          <p:nvPr/>
        </p:nvCxnSpPr>
        <p:spPr>
          <a:xfrm>
            <a:off x="6865527" y="2131312"/>
            <a:ext cx="0" cy="263502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341FA7DC-1C3F-445C-9D04-70BA381E97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37" r="1240" b="5676"/>
          <a:stretch/>
        </p:blipFill>
        <p:spPr>
          <a:xfrm>
            <a:off x="4732187" y="3667529"/>
            <a:ext cx="4365092" cy="245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5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521A-AB5E-4D91-8ACE-227A12071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Ingenium Capabilities (Steps)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02AA7-8A31-43E8-8F91-5C6C20964D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3DAFC-5313-47E8-8FD3-0BA5E41211C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87001" y="951533"/>
            <a:ext cx="3395834" cy="5506313"/>
          </a:xfrm>
        </p:spPr>
        <p:txBody>
          <a:bodyPr/>
          <a:lstStyle/>
          <a:p>
            <a:r>
              <a:rPr lang="en-US" sz="1200" dirty="0"/>
              <a:t>Ingenium procedures are structured around steps and sections</a:t>
            </a:r>
          </a:p>
          <a:p>
            <a:pPr lvl="1"/>
            <a:r>
              <a:rPr lang="en-US" sz="1100" dirty="0"/>
              <a:t>Developed steps based on extensive review of legacy test procedures</a:t>
            </a:r>
          </a:p>
          <a:p>
            <a:pPr lvl="2"/>
            <a:r>
              <a:rPr lang="en-US" sz="900" dirty="0"/>
              <a:t>Focusing on multi-mission capabilities</a:t>
            </a:r>
          </a:p>
          <a:p>
            <a:r>
              <a:rPr lang="en-US" sz="1200" dirty="0"/>
              <a:t>Steps allow for:</a:t>
            </a:r>
          </a:p>
          <a:p>
            <a:pPr lvl="1"/>
            <a:r>
              <a:rPr lang="en-US" sz="1100" dirty="0"/>
              <a:t>Sending commands/files to the vehicle or support equipment</a:t>
            </a:r>
          </a:p>
          <a:p>
            <a:pPr lvl="1"/>
            <a:r>
              <a:rPr lang="en-US" sz="1100" dirty="0"/>
              <a:t>Wait/Query for time series telemetry/1553 messages and comparing to predicts</a:t>
            </a:r>
          </a:p>
          <a:p>
            <a:pPr lvl="1"/>
            <a:r>
              <a:rPr lang="en-US" sz="1100" dirty="0"/>
              <a:t>Wait/Query for event telemetry or downlinked products and verifying existence</a:t>
            </a:r>
          </a:p>
          <a:p>
            <a:pPr lvl="1"/>
            <a:r>
              <a:rPr lang="en-US" sz="1100" dirty="0"/>
              <a:t>Capturing manual inputs and comparing against predicts</a:t>
            </a:r>
          </a:p>
          <a:p>
            <a:pPr lvl="2"/>
            <a:r>
              <a:rPr lang="en-US" sz="1050" dirty="0"/>
              <a:t>Including metrology and electrical integration inputs</a:t>
            </a:r>
          </a:p>
          <a:p>
            <a:pPr lvl="1"/>
            <a:r>
              <a:rPr lang="en-US" sz="1100" dirty="0"/>
              <a:t>Capturing operator actions (with supporting information)</a:t>
            </a:r>
          </a:p>
          <a:p>
            <a:pPr lvl="1"/>
            <a:r>
              <a:rPr lang="en-US" sz="1100" dirty="0"/>
              <a:t>Referencing other procedures within Ingenium</a:t>
            </a:r>
          </a:p>
          <a:p>
            <a:pPr lvl="2"/>
            <a:r>
              <a:rPr lang="en-US" sz="900" dirty="0"/>
              <a:t>Which can then be directly opened and executed</a:t>
            </a:r>
          </a:p>
          <a:p>
            <a:pPr lvl="1"/>
            <a:r>
              <a:rPr lang="en-US" sz="1100" dirty="0"/>
              <a:t>Invoking project specific code</a:t>
            </a:r>
          </a:p>
          <a:p>
            <a:pPr lvl="1"/>
            <a:r>
              <a:rPr lang="en-US" sz="1100" dirty="0"/>
              <a:t>Referencing time within a procedure</a:t>
            </a:r>
          </a:p>
          <a:p>
            <a:r>
              <a:rPr lang="en-US" sz="1200" dirty="0"/>
              <a:t>Steps supported by dictionary and requirement integration</a:t>
            </a:r>
          </a:p>
          <a:p>
            <a:pPr lvl="1"/>
            <a:r>
              <a:rPr lang="en-US" sz="1100" dirty="0"/>
              <a:t>Autocompletion and search functionality</a:t>
            </a:r>
          </a:p>
          <a:p>
            <a:pPr lvl="1"/>
            <a:r>
              <a:rPr lang="en-US" sz="1100" dirty="0"/>
              <a:t>Command builder helps ensure accurate commands</a:t>
            </a:r>
          </a:p>
          <a:p>
            <a:pPr lvl="1"/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6D1BE-EF16-495A-B230-31FA55AFE82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7846B-F26D-4144-AE2F-F80CE82F85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5C137-89DB-460F-8F43-AB15AD54ED8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95800-D33C-462B-B51B-BEB349D870F2}"/>
              </a:ext>
            </a:extLst>
          </p:cNvPr>
          <p:cNvPicPr/>
          <p:nvPr/>
        </p:nvPicPr>
        <p:blipFill rotWithShape="1">
          <a:blip r:embed="rId2"/>
          <a:srcRect r="2336"/>
          <a:stretch/>
        </p:blipFill>
        <p:spPr>
          <a:xfrm>
            <a:off x="3699061" y="951533"/>
            <a:ext cx="5401628" cy="35774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08A875-FD70-459D-8662-12568E708B5D}"/>
              </a:ext>
            </a:extLst>
          </p:cNvPr>
          <p:cNvSpPr txBox="1"/>
          <p:nvPr/>
        </p:nvSpPr>
        <p:spPr>
          <a:xfrm>
            <a:off x="3731866" y="4669474"/>
            <a:ext cx="5296093" cy="1788372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81AB29-76A7-4938-8218-5CD7F172D93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82835" y="4760311"/>
            <a:ext cx="5345124" cy="144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8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521A-AB5E-4D91-8ACE-227A12071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Ingenium Capabilities (Other)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02AA7-8A31-43E8-8F91-5C6C20964D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3DAFC-5313-47E8-8FD3-0BA5E41211C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96962" y="998599"/>
            <a:ext cx="3080091" cy="5373545"/>
          </a:xfrm>
        </p:spPr>
        <p:txBody>
          <a:bodyPr/>
          <a:lstStyle/>
          <a:p>
            <a:r>
              <a:rPr lang="en-US" sz="1100" dirty="0"/>
              <a:t>Execute steps in either manually or automatic mode</a:t>
            </a:r>
          </a:p>
          <a:p>
            <a:pPr lvl="1"/>
            <a:r>
              <a:rPr lang="en-US" sz="1050" dirty="0"/>
              <a:t>Automatic mode can be halted via breakpoint</a:t>
            </a:r>
          </a:p>
          <a:p>
            <a:pPr lvl="1"/>
            <a:r>
              <a:rPr lang="en-US" sz="1050" dirty="0"/>
              <a:t>User interface will auto-scroll (for automatic mode)</a:t>
            </a:r>
          </a:p>
          <a:p>
            <a:r>
              <a:rPr lang="en-US" sz="1100" dirty="0"/>
              <a:t>Selective execution of steps via “Tags” </a:t>
            </a:r>
          </a:p>
          <a:p>
            <a:r>
              <a:rPr lang="en-US" sz="1100" dirty="0"/>
              <a:t>Multiple engineers can assist or observe a procedure execution</a:t>
            </a:r>
          </a:p>
          <a:p>
            <a:r>
              <a:rPr lang="en-US" sz="1100" dirty="0"/>
              <a:t>Integrated review/commenting features</a:t>
            </a:r>
          </a:p>
          <a:p>
            <a:r>
              <a:rPr lang="en-US" sz="1100" dirty="0"/>
              <a:t>Variety of reporting options.</a:t>
            </a:r>
          </a:p>
          <a:p>
            <a:pPr lvl="1"/>
            <a:r>
              <a:rPr lang="en-US" sz="1050" dirty="0"/>
              <a:t>Procedure/Execution “Diff”</a:t>
            </a:r>
          </a:p>
          <a:p>
            <a:pPr lvl="1"/>
            <a:r>
              <a:rPr lang="en-US" sz="1050" dirty="0"/>
              <a:t>PDF export</a:t>
            </a:r>
          </a:p>
          <a:p>
            <a:pPr lvl="1"/>
            <a:r>
              <a:rPr lang="en-US" sz="1050" dirty="0"/>
              <a:t>Interleaved reports with procedure steps and all telemetry</a:t>
            </a:r>
          </a:p>
          <a:p>
            <a:r>
              <a:rPr lang="en-US" sz="1100" dirty="0"/>
              <a:t>Red/Bluelines enforced</a:t>
            </a:r>
          </a:p>
          <a:p>
            <a:pPr lvl="1"/>
            <a:r>
              <a:rPr lang="en-US" sz="1050" dirty="0"/>
              <a:t>For released procedures </a:t>
            </a:r>
          </a:p>
          <a:p>
            <a:r>
              <a:rPr lang="en-US" sz="1100" dirty="0"/>
              <a:t>Associate requirements with procedure and steps</a:t>
            </a:r>
          </a:p>
          <a:p>
            <a:pPr lvl="1"/>
            <a:r>
              <a:rPr lang="en-US" sz="1050" dirty="0"/>
              <a:t>Enables programmatic requirement buy-off</a:t>
            </a:r>
          </a:p>
          <a:p>
            <a:r>
              <a:rPr lang="en-US" sz="1100" dirty="0"/>
              <a:t>Interfaces with hundreds of test venues (simulators and hardware) </a:t>
            </a:r>
          </a:p>
          <a:p>
            <a:r>
              <a:rPr lang="en-US" sz="1100" dirty="0"/>
              <a:t>Search and replace</a:t>
            </a:r>
          </a:p>
          <a:p>
            <a:r>
              <a:rPr lang="en-US" sz="1100" dirty="0"/>
              <a:t>Copy/Paste</a:t>
            </a:r>
          </a:p>
          <a:p>
            <a:r>
              <a:rPr lang="en-US" sz="1100" dirty="0"/>
              <a:t>Rich input options including Excel-like data grids, text editor, drag and drop editing.</a:t>
            </a:r>
          </a:p>
          <a:p>
            <a:r>
              <a:rPr lang="en-US" sz="1100" dirty="0"/>
              <a:t>Import and Export procedures and test executions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6D1BE-EF16-495A-B230-31FA55AFE82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7846B-F26D-4144-AE2F-F80CE82F85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5C137-89DB-460F-8F43-AB15AD54ED8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FEAB02-A82D-43D5-9247-ABA9BD725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861" y="1007232"/>
            <a:ext cx="5399800" cy="32674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192CC6-C2D0-4BE5-A730-0B609AD669B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089" y="4454058"/>
            <a:ext cx="5009344" cy="18323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26910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594CD-77CF-4164-AC2F-B86E6D5C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Ingenium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BE929-218F-4CA4-8231-0EFF965A5C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CF6B7-7B6E-47D5-9842-018054727A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64851" y="981778"/>
            <a:ext cx="3868133" cy="5144386"/>
          </a:xfrm>
        </p:spPr>
        <p:txBody>
          <a:bodyPr/>
          <a:lstStyle/>
          <a:p>
            <a:r>
              <a:rPr lang="en-US" sz="1200" dirty="0"/>
              <a:t>Ingenium composed of server component and a client.</a:t>
            </a:r>
          </a:p>
          <a:p>
            <a:pPr lvl="1"/>
            <a:r>
              <a:rPr lang="en-US" sz="1100" dirty="0"/>
              <a:t>Server component composed of a suite of microservices deployed via containers</a:t>
            </a:r>
          </a:p>
          <a:p>
            <a:pPr lvl="1"/>
            <a:r>
              <a:rPr lang="en-US" sz="1100" dirty="0"/>
              <a:t>Client provides secure REST interface between ground data system (GDS) hosts and Ingenium server</a:t>
            </a:r>
          </a:p>
          <a:p>
            <a:r>
              <a:rPr lang="en-US" sz="1200" dirty="0"/>
              <a:t>Ingenium Service Overview:</a:t>
            </a:r>
          </a:p>
          <a:p>
            <a:pPr lvl="1"/>
            <a:r>
              <a:rPr lang="en-US" sz="1050" b="1" dirty="0"/>
              <a:t>User interface</a:t>
            </a:r>
            <a:r>
              <a:rPr lang="en-US" sz="1050" dirty="0"/>
              <a:t>: Provides a rich Web-based user experience for procedure authoring and execution that mimics paper procedure environment with enhanced drag and drop capability.</a:t>
            </a:r>
          </a:p>
          <a:p>
            <a:pPr lvl="1"/>
            <a:r>
              <a:rPr lang="en-US" sz="1050" b="1" dirty="0"/>
              <a:t>Core</a:t>
            </a:r>
            <a:r>
              <a:rPr lang="en-US" sz="1050" dirty="0"/>
              <a:t>: Primary backend service that manages procedures and executions</a:t>
            </a:r>
          </a:p>
          <a:p>
            <a:pPr lvl="1"/>
            <a:r>
              <a:rPr lang="en-US" sz="1050" b="1" dirty="0"/>
              <a:t>Project Configuration</a:t>
            </a:r>
            <a:r>
              <a:rPr lang="en-US" sz="1050" dirty="0"/>
              <a:t>: Caches project specific information, including requirements and command/telemetry dictionaries in an Elastic Search database.</a:t>
            </a:r>
          </a:p>
          <a:p>
            <a:pPr lvl="1"/>
            <a:r>
              <a:rPr lang="en-US" sz="1050" b="1" dirty="0"/>
              <a:t>Authentication Service</a:t>
            </a:r>
            <a:r>
              <a:rPr lang="en-US" sz="1050" dirty="0"/>
              <a:t>: Provides authentication via institutional services and authorization within the application</a:t>
            </a:r>
          </a:p>
          <a:p>
            <a:pPr lvl="1"/>
            <a:r>
              <a:rPr lang="en-US" sz="1050" b="1" dirty="0"/>
              <a:t>Archive Service</a:t>
            </a:r>
            <a:r>
              <a:rPr lang="en-US" sz="1050" dirty="0"/>
              <a:t>:  Handles storage of procedure and execution data in an </a:t>
            </a:r>
            <a:r>
              <a:rPr lang="en-US" sz="1050" dirty="0" err="1"/>
              <a:t>ArangoDB</a:t>
            </a:r>
            <a:r>
              <a:rPr lang="en-US" sz="1050" dirty="0"/>
              <a:t> graph database.</a:t>
            </a:r>
          </a:p>
          <a:p>
            <a:pPr lvl="1"/>
            <a:r>
              <a:rPr lang="en-US" sz="1050" b="1" dirty="0"/>
              <a:t>Execution Service</a:t>
            </a:r>
            <a:r>
              <a:rPr lang="en-US" sz="1050" dirty="0"/>
              <a:t>: Executes each step in a procedure execution and handles the auto-execution logic.</a:t>
            </a:r>
          </a:p>
          <a:p>
            <a:pPr lvl="1"/>
            <a:r>
              <a:rPr lang="en-US" sz="1050" b="1" dirty="0"/>
              <a:t>Report Service</a:t>
            </a:r>
            <a:r>
              <a:rPr lang="en-US" sz="1050" dirty="0"/>
              <a:t>: Produces reports based on procedure and execution information including PDF, “Diff” reports, and filtered execution reports.</a:t>
            </a:r>
          </a:p>
          <a:p>
            <a:pPr marL="411480" lvl="1" indent="0">
              <a:buNone/>
            </a:pPr>
            <a:endParaRPr lang="en-US" sz="105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43BBC-7EE3-4622-9F2E-2E94858FB0E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29918-C301-4852-9998-6C5E20E0087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1A01E-D60C-4B94-8356-D79664F3AA0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D2FD61-7173-4846-8671-0B305784871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444" y="1191525"/>
            <a:ext cx="5021705" cy="4148973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0AA31B-94C2-42BA-9F28-4B344A6C497E}"/>
              </a:ext>
            </a:extLst>
          </p:cNvPr>
          <p:cNvSpPr txBox="1"/>
          <p:nvPr/>
        </p:nvSpPr>
        <p:spPr>
          <a:xfrm>
            <a:off x="4292867" y="5403787"/>
            <a:ext cx="4494998" cy="49538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r>
              <a:rPr lang="en-US" sz="1100" b="1" dirty="0"/>
              <a:t>Venue Service</a:t>
            </a:r>
            <a:r>
              <a:rPr lang="en-US" sz="1100" dirty="0"/>
              <a:t>: Agent application that links the Ingenium server application and the GDS. Also executes project defined code for custom steps</a:t>
            </a:r>
          </a:p>
        </p:txBody>
      </p:sp>
    </p:spTree>
    <p:extLst>
      <p:ext uri="{BB962C8B-B14F-4D97-AF65-F5344CB8AC3E}">
        <p14:creationId xmlns:p14="http://schemas.microsoft.com/office/powerpoint/2010/main" val="61026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F6B7-DDEF-4EC5-8B17-73E5D3B6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Adoption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9648E-8A3B-4E9C-A069-13CB25B533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AED89-7BD1-443F-A74B-F4F3D2B1FE1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5117164"/>
            <a:ext cx="8447097" cy="1009000"/>
          </a:xfrm>
        </p:spPr>
        <p:txBody>
          <a:bodyPr/>
          <a:lstStyle/>
          <a:p>
            <a:r>
              <a:rPr lang="en-US" sz="1400" dirty="0"/>
              <a:t>Extensive usage across multiple flight projects (Europa Clipper, Psyche)</a:t>
            </a:r>
          </a:p>
          <a:p>
            <a:r>
              <a:rPr lang="en-US" sz="1400" dirty="0"/>
              <a:t>As of end of FY2022:</a:t>
            </a:r>
          </a:p>
          <a:p>
            <a:pPr lvl="1"/>
            <a:r>
              <a:rPr lang="en-US" sz="1200" dirty="0"/>
              <a:t>+15,000 tests executed (simulator, engineering model hardware), ~1500 tests executed on flight hardware</a:t>
            </a:r>
          </a:p>
          <a:p>
            <a:pPr lvl="1"/>
            <a:r>
              <a:rPr lang="en-US" sz="1200" dirty="0"/>
              <a:t>1,706 Procedures</a:t>
            </a:r>
          </a:p>
          <a:p>
            <a:pPr lvl="1"/>
            <a:r>
              <a:rPr lang="en-US" sz="1200" dirty="0"/>
              <a:t>4727  Development versions (for review/dry run), 1370 versions for release and run for record.</a:t>
            </a:r>
          </a:p>
          <a:p>
            <a:pPr lvl="1"/>
            <a:endParaRPr lang="en-US" sz="1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2B0CD-FA30-4ED8-BDD0-98B1BCA7BE4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D1693-2A94-44A5-A565-E710222C4BB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40327-A98B-4F81-BDD7-7A7D1C40526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609D990F-ED07-4722-99B4-8E1AFF4BD1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0214702"/>
              </p:ext>
            </p:extLst>
          </p:nvPr>
        </p:nvGraphicFramePr>
        <p:xfrm>
          <a:off x="336885" y="880434"/>
          <a:ext cx="4168902" cy="2242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9748A266-5044-4B17-AC85-CC11A3FB3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9799079"/>
              </p:ext>
            </p:extLst>
          </p:nvPr>
        </p:nvGraphicFramePr>
        <p:xfrm>
          <a:off x="336885" y="3120785"/>
          <a:ext cx="4168901" cy="1996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0F634FB2-2F71-430C-A506-4B87138403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4407613"/>
              </p:ext>
            </p:extLst>
          </p:nvPr>
        </p:nvGraphicFramePr>
        <p:xfrm>
          <a:off x="4505786" y="3118379"/>
          <a:ext cx="4398510" cy="1998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D8ED1F85-71F1-4498-AB99-D05A626728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9629950"/>
              </p:ext>
            </p:extLst>
          </p:nvPr>
        </p:nvGraphicFramePr>
        <p:xfrm>
          <a:off x="4505785" y="890176"/>
          <a:ext cx="4398510" cy="2228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53589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6B4A-111B-457C-BC02-50761A19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Enabling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3B63A-1DF1-49FD-A646-77D2085005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0A8BB-DABB-49AB-8E8B-5EC8796699D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981777"/>
            <a:ext cx="8229601" cy="4405488"/>
          </a:xfrm>
        </p:spPr>
        <p:txBody>
          <a:bodyPr/>
          <a:lstStyle/>
          <a:p>
            <a:r>
              <a:rPr lang="en-US" sz="1800" dirty="0"/>
              <a:t>Efficiency of directly executing procedure content reduces test time.</a:t>
            </a:r>
          </a:p>
          <a:p>
            <a:pPr lvl="1"/>
            <a:r>
              <a:rPr lang="en-US" sz="1600" dirty="0"/>
              <a:t>Psyche ATLO campaign performed over 370,000 telemetry checks (through FY22).</a:t>
            </a:r>
          </a:p>
          <a:p>
            <a:pPr lvl="1"/>
            <a:r>
              <a:rPr lang="en-US" sz="1600" dirty="0"/>
              <a:t>Each one performed in under a second (via Ingenium)</a:t>
            </a:r>
          </a:p>
          <a:p>
            <a:pPr lvl="1"/>
            <a:r>
              <a:rPr lang="en-US" sz="1600" dirty="0"/>
              <a:t>Each second saved (over manual execution) translates into approximately 2 ½ weeks of test shift time.</a:t>
            </a:r>
            <a:endParaRPr lang="en-US" sz="1800" dirty="0"/>
          </a:p>
          <a:p>
            <a:r>
              <a:rPr lang="en-US" sz="1800" dirty="0"/>
              <a:t>Direct mapping of requirements to procedure steps speeds review, enables validation of test coverage, and allows engineers to focus on the unexpected.</a:t>
            </a:r>
            <a:endParaRPr lang="en-US" sz="1600" dirty="0"/>
          </a:p>
          <a:p>
            <a:r>
              <a:rPr lang="en-US" sz="1800" dirty="0"/>
              <a:t>Standard digital format and interface enables analyses and external tool ecosystem. Including:</a:t>
            </a:r>
          </a:p>
          <a:p>
            <a:pPr lvl="1"/>
            <a:r>
              <a:rPr lang="en-US" sz="1600" dirty="0"/>
              <a:t>Interleaved reports with procedure steps and all telemetry</a:t>
            </a:r>
          </a:p>
          <a:p>
            <a:pPr lvl="1"/>
            <a:r>
              <a:rPr lang="en-US" sz="1600" dirty="0"/>
              <a:t>Tool to check that all commands in the procedure have been tested ahead of their use on Flight Hardware</a:t>
            </a:r>
          </a:p>
          <a:p>
            <a:pPr lvl="1"/>
            <a:r>
              <a:rPr lang="en-US" sz="1600" dirty="0"/>
              <a:t>Tool that collect all telemetry channels from a procedure and creates GDS displays.</a:t>
            </a:r>
          </a:p>
          <a:p>
            <a:pPr marL="777240" lvl="2" indent="0">
              <a:buNone/>
            </a:pPr>
            <a:endParaRPr lang="en-US" sz="1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A1B58-8747-4BDF-BD54-A446ED83D74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2E031-1F8C-4055-9679-DFC6DFD1C4B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9CE66-322A-457C-90C2-85696F9A49D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F2BFD-01AB-4FE3-BCD3-1882A03ADE09}"/>
              </a:ext>
            </a:extLst>
          </p:cNvPr>
          <p:cNvSpPr txBox="1"/>
          <p:nvPr/>
        </p:nvSpPr>
        <p:spPr>
          <a:xfrm>
            <a:off x="208872" y="5716340"/>
            <a:ext cx="8837653" cy="72996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b="1" i="1" dirty="0"/>
              <a:t>"We were executing procedures in ATLO in a much more efficient way than I have ever seen done in the past.“ – Lead Psyche ATLO Test Conductor </a:t>
            </a:r>
          </a:p>
        </p:txBody>
      </p:sp>
    </p:spTree>
    <p:extLst>
      <p:ext uri="{BB962C8B-B14F-4D97-AF65-F5344CB8AC3E}">
        <p14:creationId xmlns:p14="http://schemas.microsoft.com/office/powerpoint/2010/main" val="90756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0AC2412-6B8B-4943-8EB8-D4D73137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C38933-022A-4D51-B82E-6C57015ED1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543BC96-AD22-4FA0-B1D4-2263F8632DB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068404"/>
            <a:ext cx="8229601" cy="5057759"/>
          </a:xfrm>
        </p:spPr>
        <p:txBody>
          <a:bodyPr/>
          <a:lstStyle/>
          <a:p>
            <a:r>
              <a:rPr lang="en-US" dirty="0"/>
              <a:t>Exploring the application of Ingenium outside system test campaigns</a:t>
            </a:r>
          </a:p>
          <a:p>
            <a:pPr lvl="1"/>
            <a:r>
              <a:rPr lang="en-US" dirty="0"/>
              <a:t>Europa Clipper mission operations planning to use Ingenium for on-console procedures</a:t>
            </a:r>
          </a:p>
          <a:p>
            <a:pPr lvl="1"/>
            <a:r>
              <a:rPr lang="en-US" dirty="0"/>
              <a:t>Mars Sample Return planning to use Ingenium for select subsystem testing</a:t>
            </a:r>
          </a:p>
          <a:p>
            <a:r>
              <a:rPr lang="en-US" dirty="0"/>
              <a:t>This will require Ingenium to be more flexible to interface with a wider variety of external systems</a:t>
            </a:r>
          </a:p>
          <a:p>
            <a:pPr lvl="1"/>
            <a:r>
              <a:rPr lang="en-US" dirty="0"/>
              <a:t>E.g. different ground data systems, simulation and support equipment, etc.</a:t>
            </a:r>
          </a:p>
          <a:p>
            <a:r>
              <a:rPr lang="en-US" dirty="0"/>
              <a:t>Ingenium also continues to support the system test community with user driven updates and enhancements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8171C-CD6A-496D-AAB3-6592C320294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2/20/2023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B30AA-3CFF-4082-AF4B-BF669CB2D0A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B7CD3-601B-490B-BF09-B383525A772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698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1613-823F-4EDA-8DD2-7D8A4573BB74}" type="datetime1">
              <a:rPr lang="en-US" smtClean="0"/>
              <a:t>2/20/2023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9816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329&quot;/&gt;&lt;/object&gt;&lt;object type=&quot;3&quot; unique_id=&quot;10004&quot;&gt;&lt;property id=&quot;20148&quot; value=&quot;5&quot;/&gt;&lt;property id=&quot;20300&quot; value=&quot;Slide 2&quot;/&gt;&lt;property id=&quot;20307&quot; value=&quot;351&quot;/&gt;&lt;/object&gt;&lt;object type=&quot;3&quot; unique_id=&quot;10005&quot;&gt;&lt;property id=&quot;20148&quot; value=&quot;5&quot;/&gt;&lt;property id=&quot;20300&quot; value=&quot;Slide 3&quot;/&gt;&lt;property id=&quot;20307&quot; value=&quot;350&quot;/&gt;&lt;/object&gt;&lt;object type=&quot;3&quot; unique_id=&quot;10006&quot;&gt;&lt;property id=&quot;20148&quot; value=&quot;5&quot;/&gt;&lt;property id=&quot;20300&quot; value=&quot;Slide 4&quot;/&gt;&lt;property id=&quot;20307&quot; value=&quot;331&quot;/&gt;&lt;/object&gt;&lt;/object&gt;&lt;object type=&quot;8&quot; unique_id=&quot;10012&quot;&gt;&lt;/object&gt;&lt;/object&gt;&lt;/database&gt;"/>
  <p:tag name="MMPROD_NEXTUNIQUEID" val="10009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ASAjpl-WhiteTheme-4x3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bg1">
              <a:lumMod val="6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ASAjpl-BlackTheme-4x3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solidFill>
          <a:schemeClr val="tx2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2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91440" tIns="45720" rIns="91440" bIns="45720" rtlCol="0">
        <a:noAutofit/>
      </a:bodyPr>
      <a:lstStyle>
        <a:defPPr>
          <a:defRPr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Adjacency.thmx</Template>
  <TotalTime>31457</TotalTime>
  <Words>1412</Words>
  <Application>Microsoft Office PowerPoint</Application>
  <PresentationFormat>On-screen Show (4:3)</PresentationFormat>
  <Paragraphs>184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NASAjpl-WhiteTheme-4x3-vA6</vt:lpstr>
      <vt:lpstr>NASAjpl-BlackTheme-4x3-vA6</vt:lpstr>
      <vt:lpstr>PowerPoint Presentation</vt:lpstr>
      <vt:lpstr>Agenda</vt:lpstr>
      <vt:lpstr>Genesis</vt:lpstr>
      <vt:lpstr>What is Ingenium?</vt:lpstr>
      <vt:lpstr>Ingenium Capabilities (Steps)</vt:lpstr>
      <vt:lpstr>Ingenium Capabilities (Other)</vt:lpstr>
      <vt:lpstr>Ingenium Architecture</vt:lpstr>
      <vt:lpstr>Project Adoption</vt:lpstr>
      <vt:lpstr>Mission Enabling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Carolyn M Stolze</dc:creator>
  <cp:lastModifiedBy>Swan, Christopher A (US 313E)</cp:lastModifiedBy>
  <cp:revision>297</cp:revision>
  <cp:lastPrinted>2016-07-26T23:14:33Z</cp:lastPrinted>
  <dcterms:created xsi:type="dcterms:W3CDTF">2016-06-29T01:27:10Z</dcterms:created>
  <dcterms:modified xsi:type="dcterms:W3CDTF">2023-02-20T20:05:08Z</dcterms:modified>
</cp:coreProperties>
</file>