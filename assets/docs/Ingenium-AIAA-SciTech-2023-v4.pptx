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0" r:id="rId1"/>
    <p:sldMasterId id="2147484002" r:id="rId2"/>
  </p:sldMasterIdLst>
  <p:notesMasterIdLst>
    <p:notesMasterId r:id="rId16"/>
  </p:notesMasterIdLst>
  <p:handoutMasterIdLst>
    <p:handoutMasterId r:id="rId17"/>
  </p:handoutMasterIdLst>
  <p:sldIdLst>
    <p:sldId id="352" r:id="rId3"/>
    <p:sldId id="367" r:id="rId4"/>
    <p:sldId id="353" r:id="rId5"/>
    <p:sldId id="355" r:id="rId6"/>
    <p:sldId id="366" r:id="rId7"/>
    <p:sldId id="356" r:id="rId8"/>
    <p:sldId id="358" r:id="rId9"/>
    <p:sldId id="361" r:id="rId10"/>
    <p:sldId id="362" r:id="rId11"/>
    <p:sldId id="363" r:id="rId12"/>
    <p:sldId id="364" r:id="rId13"/>
    <p:sldId id="365" r:id="rId14"/>
    <p:sldId id="331" r:id="rId15"/>
  </p:sldIdLst>
  <p:sldSz cx="9144000" cy="6858000" type="screen4x3"/>
  <p:notesSz cx="7010400" cy="92964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292A"/>
    <a:srgbClr val="434345"/>
    <a:srgbClr val="5D5D60"/>
    <a:srgbClr val="76777B"/>
    <a:srgbClr val="A5A5A5"/>
    <a:srgbClr val="C8C8C8"/>
    <a:srgbClr val="003D4C"/>
    <a:srgbClr val="0B3D91"/>
    <a:srgbClr val="489FDF"/>
    <a:srgbClr val="00A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0" autoAdjust="0"/>
    <p:restoredTop sz="95638" autoAdjust="0"/>
  </p:normalViewPr>
  <p:slideViewPr>
    <p:cSldViewPr snapToGrid="0" snapToObjects="1">
      <p:cViewPr varScale="1">
        <p:scale>
          <a:sx n="82" d="100"/>
          <a:sy n="82" d="100"/>
        </p:scale>
        <p:origin x="7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0A200-6553-B147-90C9-CEF91EFF8297}" type="datetimeFigureOut">
              <a:rPr lang="en-US" smtClean="0">
                <a:latin typeface="Arial"/>
              </a:rPr>
              <a:t>1/26/2023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2C01C-8156-EE4C-BC47-869CA09DFB9E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4958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FC77F81-3125-2240-A858-DAD650E09B57}" type="datetimeFigureOut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D55DD9D9-7F94-8C4C-8748-81A0C015A8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63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622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394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7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067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5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25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890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62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660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247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17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Arial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DD9D9-7F94-8C4C-8748-81A0C015A8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039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1" baseline="0">
                <a:solidFill>
                  <a:schemeClr val="tx1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3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56816"/>
            <a:ext cx="3337560" cy="927100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24"/>
          </p:nvPr>
        </p:nvSpPr>
        <p:spPr>
          <a:xfrm>
            <a:off x="912341" y="6457847"/>
            <a:ext cx="7422379" cy="400153"/>
          </a:xfrm>
        </p:spPr>
        <p:txBody>
          <a:bodyPr/>
          <a:lstStyle/>
          <a:p>
            <a:pPr algn="l"/>
            <a:r>
              <a:rPr lang="en-US" dirty="0"/>
              <a:t>For required markings, please visit https://mh.jpl.nasa.gov</a:t>
            </a:r>
          </a:p>
        </p:txBody>
      </p:sp>
    </p:spTree>
    <p:extLst>
      <p:ext uri="{BB962C8B-B14F-4D97-AF65-F5344CB8AC3E}">
        <p14:creationId xmlns:p14="http://schemas.microsoft.com/office/powerpoint/2010/main" val="183458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46583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1" baseline="0">
                <a:solidFill>
                  <a:srgbClr val="000000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369199" y="5853545"/>
            <a:ext cx="4964801" cy="6657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pic>
        <p:nvPicPr>
          <p:cNvPr id="12" name="Picture 11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833872"/>
            <a:ext cx="2925483" cy="81263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8" y="6457847"/>
            <a:ext cx="4964802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For required markings, please visit https://mh.jpl.nasa.gov</a:t>
            </a:r>
          </a:p>
        </p:txBody>
      </p:sp>
    </p:spTree>
    <p:extLst>
      <p:ext uri="{BB962C8B-B14F-4D97-AF65-F5344CB8AC3E}">
        <p14:creationId xmlns:p14="http://schemas.microsoft.com/office/powerpoint/2010/main" val="68193000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576455" cy="6858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00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rgbClr val="000000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tabLst/>
              <a:defRPr sz="14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</a:t>
            </a:r>
            <a:br>
              <a:rPr lang="en-US" dirty="0"/>
            </a:br>
            <a:r>
              <a:rPr lang="en-US" dirty="0"/>
              <a:t>Mission Name (optional)</a:t>
            </a:r>
          </a:p>
        </p:txBody>
      </p:sp>
      <p:pic>
        <p:nvPicPr>
          <p:cNvPr id="10" name="Picture 9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367528"/>
            <a:ext cx="2925483" cy="812634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22"/>
          </p:nvPr>
        </p:nvSpPr>
        <p:spPr>
          <a:xfrm>
            <a:off x="5687568" y="6457847"/>
            <a:ext cx="3347574" cy="400153"/>
          </a:xfrm>
        </p:spPr>
        <p:txBody>
          <a:bodyPr/>
          <a:lstStyle/>
          <a:p>
            <a:r>
              <a:rPr lang="en-US" dirty="0"/>
              <a:t>For required markings, please visit https://mh.jpl.nasa.gov</a:t>
            </a:r>
          </a:p>
        </p:txBody>
      </p:sp>
    </p:spTree>
    <p:extLst>
      <p:ext uri="{BB962C8B-B14F-4D97-AF65-F5344CB8AC3E}">
        <p14:creationId xmlns:p14="http://schemas.microsoft.com/office/powerpoint/2010/main" val="134653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6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0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5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25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6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9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7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575050" y="1596524"/>
            <a:ext cx="5111750" cy="440589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58573"/>
            <a:ext cx="3008313" cy="324384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457200" y="1596524"/>
            <a:ext cx="3008313" cy="1162049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86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90842"/>
            <a:ext cx="5486400" cy="3383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614565"/>
            <a:ext cx="5486400" cy="5215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1792288" y="4974802"/>
            <a:ext cx="5486400" cy="631073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7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1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51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25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27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55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437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76323" y="3654169"/>
            <a:ext cx="458167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3863419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56" y="2377440"/>
            <a:ext cx="4581144" cy="127254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54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428" y="2792730"/>
            <a:ext cx="4581144" cy="127254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41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3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10" name="Picture 9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56816"/>
            <a:ext cx="3337560" cy="927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>
          <a:xfrm>
            <a:off x="909983" y="6457847"/>
            <a:ext cx="7424737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44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46583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369199" y="5853545"/>
            <a:ext cx="5205433" cy="6657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pic>
        <p:nvPicPr>
          <p:cNvPr id="12" name="Picture 11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833872"/>
            <a:ext cx="3337560" cy="927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8" y="6457847"/>
            <a:ext cx="5205434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87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576455" cy="6858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tabLst/>
              <a:defRPr sz="14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</a:t>
            </a:r>
            <a:br>
              <a:rPr lang="en-US" dirty="0"/>
            </a:br>
            <a:r>
              <a:rPr lang="en-US" dirty="0"/>
              <a:t>Mission Name (optional)</a:t>
            </a:r>
          </a:p>
        </p:txBody>
      </p:sp>
      <p:pic>
        <p:nvPicPr>
          <p:cNvPr id="10" name="Picture 9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367528"/>
            <a:ext cx="3337560" cy="9271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22"/>
          </p:nvPr>
        </p:nvSpPr>
        <p:spPr>
          <a:xfrm>
            <a:off x="5687786" y="6457847"/>
            <a:ext cx="3337342" cy="400153"/>
          </a:xfrm>
        </p:spPr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97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D0CFA6C-C905-4CE6-8F29-E518B3A4900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2548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FE916D4-FE10-4894-87E7-CA9E1947A78F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311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53A224B-3B24-415A-9C5D-3D6E00A3FF74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876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C04E157-CB0C-46CE-9A67-61A6EF47F9F4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26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5E76156-1A7E-4910-A233-557DE26571FD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026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405632E-B367-44E1-8DB2-CBF13D1185CB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45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A74FDDA-8CF7-4FC6-9FF0-CED0235A8996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68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575050" y="1596524"/>
            <a:ext cx="5111750" cy="440589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58573"/>
            <a:ext cx="3008313" cy="324384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457200" y="1596524"/>
            <a:ext cx="3008313" cy="1162049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A8D7B5DD-001E-479D-B143-6C803CA737BD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35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90842"/>
            <a:ext cx="5486400" cy="3383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614565"/>
            <a:ext cx="5486400" cy="5215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1792288" y="4974802"/>
            <a:ext cx="5486400" cy="631073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23EFDEE-49DB-415A-9521-63554B5828EC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8757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92FF433-B518-4A9F-980A-B71A0C6C4EF5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85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AE082B8-3C61-4373-9DE0-EDC4118D84C2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462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3DD3-C229-4FB1-9CAD-1EFC9002908B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98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rgbClr val="FFFFFF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683806E-C00F-4ACD-B82E-06BD6C2EF7D0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55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AF8C95-80B3-4F5E-BCBD-AAB50D362A32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773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34D7-A090-4C17-9299-DE4097C6BA85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982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76323" y="3654169"/>
            <a:ext cx="458167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3863419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5" name="Picture 4" descr="Tribrand_ColorWhite_rgb_16x3_1606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23" y="2381478"/>
            <a:ext cx="4581684" cy="12726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B6D65-D32F-46AC-A6C9-EFCCADB751AD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885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ribrand_ColorWhite_rgb_16x3_1606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23" y="2792655"/>
            <a:ext cx="4581684" cy="12726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F3FD-AAA5-492B-BB53-7B35F6475034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1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For required markings, please visit https://mh.jpl.nasa.gov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1" r:id="rId2"/>
    <p:sldLayoutId id="2147483983" r:id="rId3"/>
    <p:sldLayoutId id="2147484001" r:id="rId4"/>
    <p:sldLayoutId id="2147483985" r:id="rId5"/>
    <p:sldLayoutId id="2147483987" r:id="rId6"/>
    <p:sldLayoutId id="2147483986" r:id="rId7"/>
    <p:sldLayoutId id="2147483988" r:id="rId8"/>
    <p:sldLayoutId id="2147483997" r:id="rId9"/>
    <p:sldLayoutId id="2147483998" r:id="rId10"/>
    <p:sldLayoutId id="2147483999" r:id="rId11"/>
    <p:sldLayoutId id="2147484000" r:id="rId12"/>
    <p:sldLayoutId id="2147483989" r:id="rId13"/>
    <p:sldLayoutId id="2147483991" r:id="rId14"/>
    <p:sldLayoutId id="2147483993" r:id="rId15"/>
    <p:sldLayoutId id="2147483994" r:id="rId16"/>
    <p:sldLayoutId id="2147483995" r:id="rId17"/>
    <p:sldLayoutId id="2147483996" r:id="rId18"/>
    <p:sldLayoutId id="2147483984" r:id="rId19"/>
    <p:sldLayoutId id="2147484022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b="1" i="0" u="none" kern="1200" cap="none" spc="0" baseline="0">
          <a:ln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8277347-0A92-4237-B748-B27D77FE6A9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 </a:t>
            </a:r>
            <a:endParaRPr lang="en-US" dirty="0"/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45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4020" r:id="rId18"/>
    <p:sldLayoutId id="2147484021" r:id="rId19"/>
    <p:sldLayoutId id="2147484023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b="1" kern="1200" cap="none" spc="0" baseline="0">
          <a:ln>
            <a:noFill/>
          </a:ln>
          <a:solidFill>
            <a:srgbClr val="FFFFFF"/>
          </a:solidFill>
          <a:effectLst/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200" kern="1200">
          <a:solidFill>
            <a:srgbClr val="FFFFFF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rgbClr val="FFFFFF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Photo-2015-03-12-085758 - D2015_0302_D370_CMSalt2.jpg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17" b="6483"/>
          <a:stretch/>
        </p:blipFill>
        <p:spPr>
          <a:xfrm>
            <a:off x="0" y="0"/>
            <a:ext cx="9144000" cy="4465835"/>
          </a:xfrm>
        </p:spPr>
      </p:pic>
      <p:sp>
        <p:nvSpPr>
          <p:cNvPr id="2" name="Text Placeholder 1"/>
          <p:cNvSpPr>
            <a:spLocks noGrp="1"/>
          </p:cNvSpPr>
          <p:nvPr>
            <p:ph type="body" sz="quarter" idx="3"/>
          </p:nvPr>
        </p:nvSpPr>
        <p:spPr>
          <a:xfrm>
            <a:off x="275891" y="4599542"/>
            <a:ext cx="8436135" cy="430183"/>
          </a:xfrm>
        </p:spPr>
        <p:txBody>
          <a:bodyPr/>
          <a:lstStyle/>
          <a:p>
            <a:r>
              <a:rPr lang="en-US" sz="2400" dirty="0"/>
              <a:t>Development of a Web-based Test Procedure Authoring and Execution Environment for Space Systems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369197" y="5957245"/>
            <a:ext cx="5350465" cy="500602"/>
          </a:xfrm>
        </p:spPr>
        <p:txBody>
          <a:bodyPr/>
          <a:lstStyle/>
          <a:p>
            <a:r>
              <a:rPr lang="en-US" sz="1800" b="1" dirty="0"/>
              <a:t>Hongman Kim and Christopher Swan</a:t>
            </a:r>
          </a:p>
          <a:p>
            <a:r>
              <a:rPr lang="en-US" sz="1400" i="1" dirty="0"/>
              <a:t>NASA Jet Propulsion Laboratory, Pasadena, CA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369199" y="5411755"/>
            <a:ext cx="8436134" cy="303245"/>
          </a:xfrm>
        </p:spPr>
        <p:txBody>
          <a:bodyPr/>
          <a:lstStyle/>
          <a:p>
            <a:r>
              <a:rPr lang="en-US" sz="1600" dirty="0"/>
              <a:t>AIAA SciTech Forum (January 27, 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6842" y="-77536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7" y="6457847"/>
            <a:ext cx="5350467" cy="400153"/>
          </a:xfrm>
        </p:spPr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5A6E420-ECCA-4E7A-9809-2537DACDF5DF}"/>
              </a:ext>
            </a:extLst>
          </p:cNvPr>
          <p:cNvSpPr txBox="1">
            <a:spLocks/>
          </p:cNvSpPr>
          <p:nvPr/>
        </p:nvSpPr>
        <p:spPr>
          <a:xfrm>
            <a:off x="669403" y="61487"/>
            <a:ext cx="7835726" cy="2776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chemeClr val="tx1"/>
                </a:solidFill>
              </a:rPr>
              <a:t>Copyright </a:t>
            </a:r>
            <a:r>
              <a:rPr lang="en-US" dirty="0">
                <a:solidFill>
                  <a:schemeClr val="tx1"/>
                </a:solidFill>
              </a:rPr>
              <a:t>©2022</a:t>
            </a:r>
            <a:r>
              <a:rPr lang="en-US" i="1" dirty="0">
                <a:solidFill>
                  <a:schemeClr val="tx1"/>
                </a:solidFill>
              </a:rPr>
              <a:t> by California Institute of Technology. Government Sponsorship acknowledged. Published by the American Institute of Aeronautics and Astronautics, Inc., with permission.</a:t>
            </a:r>
          </a:p>
        </p:txBody>
      </p:sp>
    </p:spTree>
    <p:extLst>
      <p:ext uri="{BB962C8B-B14F-4D97-AF65-F5344CB8AC3E}">
        <p14:creationId xmlns:p14="http://schemas.microsoft.com/office/powerpoint/2010/main" val="389824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50"/>
    </mc:Choice>
    <mc:Fallback xmlns="">
      <p:transition spd="slow" advTm="155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Procedures for I&amp;T and V&amp;V Campaigns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F9F37-F8FD-471C-9651-5D8345E6D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6282"/>
            <a:ext cx="8313576" cy="3895408"/>
          </a:xfrm>
          <a:prstGeom prst="rect">
            <a:avLst/>
          </a:prstGeom>
        </p:spPr>
      </p:pic>
      <p:sp>
        <p:nvSpPr>
          <p:cNvPr id="14" name="Left Brace 13">
            <a:extLst>
              <a:ext uri="{FF2B5EF4-FFF2-40B4-BE49-F238E27FC236}">
                <a16:creationId xmlns:a16="http://schemas.microsoft.com/office/drawing/2014/main" id="{6E5682FB-38C3-49CA-B75A-716F669E0A6A}"/>
              </a:ext>
            </a:extLst>
          </p:cNvPr>
          <p:cNvSpPr/>
          <p:nvPr/>
        </p:nvSpPr>
        <p:spPr>
          <a:xfrm rot="16200000">
            <a:off x="5817637" y="4816477"/>
            <a:ext cx="335902" cy="1166328"/>
          </a:xfrm>
          <a:prstGeom prst="leftBrace">
            <a:avLst>
              <a:gd name="adj1" fmla="val 36111"/>
              <a:gd name="adj2" fmla="val 50000"/>
            </a:avLst>
          </a:prstGeom>
          <a:ln w="38100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54FD69-4B73-409E-BDEA-6197CDD4248D}"/>
              </a:ext>
            </a:extLst>
          </p:cNvPr>
          <p:cNvSpPr txBox="1"/>
          <p:nvPr/>
        </p:nvSpPr>
        <p:spPr>
          <a:xfrm>
            <a:off x="4337147" y="5601495"/>
            <a:ext cx="4463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Well defined test procedures are essential to the successful execution of I&amp;T and V&amp;V campaigns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B7FD80-3D80-475D-88C6-5B18D92614FE}"/>
              </a:ext>
            </a:extLst>
          </p:cNvPr>
          <p:cNvSpPr txBox="1"/>
          <p:nvPr/>
        </p:nvSpPr>
        <p:spPr>
          <a:xfrm>
            <a:off x="457200" y="5231690"/>
            <a:ext cx="44632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Ref: NASA Systems Engineering Handbook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3114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811"/>
    </mc:Choice>
    <mc:Fallback xmlns="">
      <p:transition spd="slow" advTm="958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C638F-B1B5-4B37-9AF6-36DBF1068E7D}"/>
              </a:ext>
            </a:extLst>
          </p:cNvPr>
          <p:cNvSpPr txBox="1"/>
          <p:nvPr/>
        </p:nvSpPr>
        <p:spPr>
          <a:xfrm>
            <a:off x="551720" y="5352579"/>
            <a:ext cx="8296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combines the advantages of paper procedure (flexibility and human friendliness) and scripted procedure (rigor and speed)? 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1330B1-51B7-46DE-BBD7-BF0A2B6211E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5" y="1095309"/>
            <a:ext cx="8369210" cy="37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7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811"/>
    </mc:Choice>
    <mc:Fallback xmlns="">
      <p:transition spd="slow" advTm="9581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E-Procedure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C638F-B1B5-4B37-9AF6-36DBF1068E7D}"/>
              </a:ext>
            </a:extLst>
          </p:cNvPr>
          <p:cNvSpPr txBox="1"/>
          <p:nvPr/>
        </p:nvSpPr>
        <p:spPr>
          <a:xfrm>
            <a:off x="5213024" y="1310327"/>
            <a:ext cx="363557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E-procedure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Replaces paper procedure with executable electronic  procedure (looks and feels like paper procedure but executable)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Integration with commanding and telemetry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Automatic enforcement of standard process such as redlines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Facilitate team collaboration (during operation and for reviews)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597E8-4058-44D5-96C4-C62370E5D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129"/>
            <a:ext cx="3298687" cy="35539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33C85-4FC6-4963-9396-8AA6F26DE9C0}"/>
              </a:ext>
            </a:extLst>
          </p:cNvPr>
          <p:cNvSpPr txBox="1"/>
          <p:nvPr/>
        </p:nvSpPr>
        <p:spPr>
          <a:xfrm>
            <a:off x="586034" y="1215114"/>
            <a:ext cx="363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Paper Procedure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677F34-BA14-49EA-ACBE-D58B2668179A}"/>
              </a:ext>
            </a:extLst>
          </p:cNvPr>
          <p:cNvSpPr/>
          <p:nvPr/>
        </p:nvSpPr>
        <p:spPr>
          <a:xfrm>
            <a:off x="4186711" y="3126208"/>
            <a:ext cx="595489" cy="40011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3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24"/>
    </mc:Choice>
    <mc:Fallback xmlns="">
      <p:transition spd="slow" advTm="370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Ingenium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C638F-B1B5-4B37-9AF6-36DBF1068E7D}"/>
              </a:ext>
            </a:extLst>
          </p:cNvPr>
          <p:cNvSpPr txBox="1"/>
          <p:nvPr/>
        </p:nvSpPr>
        <p:spPr>
          <a:xfrm>
            <a:off x="5213024" y="1446114"/>
            <a:ext cx="36355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Web-based procedure authoring and execution environment for flight S/W and H/W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Developed at JPL since 2017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to test venues of different fidelity (simulator, testbed, or flight H/W)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Multi-mission. Currently used by Psyche and Europa Clipper projects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6A53E-5483-4F14-B2D4-7DCA2ED4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19" y="1571416"/>
            <a:ext cx="4874940" cy="359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7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92"/>
    </mc:Choice>
    <mc:Fallback xmlns="">
      <p:transition spd="slow" advTm="2939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Ingenium S/W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B48807-5404-4B01-BECC-C04AD9CB759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7502"/>
            <a:ext cx="4466228" cy="4691385"/>
          </a:xfrm>
          <a:prstGeom prst="rect">
            <a:avLst/>
          </a:prstGeom>
          <a:noFill/>
        </p:spPr>
      </p:pic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09616EE9-BEDD-4333-B122-1A437878B212}"/>
              </a:ext>
            </a:extLst>
          </p:cNvPr>
          <p:cNvSpPr txBox="1">
            <a:spLocks/>
          </p:cNvSpPr>
          <p:nvPr/>
        </p:nvSpPr>
        <p:spPr>
          <a:xfrm>
            <a:off x="5473367" y="1252223"/>
            <a:ext cx="3571813" cy="4778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Consists of micro-services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RESTful API for all services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Running in Docker containers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Deployed to AWS or </a:t>
            </a:r>
            <a:r>
              <a:rPr lang="en-US" b="0" dirty="0">
                <a:solidFill>
                  <a:schemeClr val="tx1"/>
                </a:solidFill>
              </a:rPr>
              <a:t>GDS provisioned servers on premise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b="0" dirty="0">
                <a:solidFill>
                  <a:schemeClr val="tx1"/>
                </a:solidFill>
              </a:rPr>
              <a:t>Ingenium Venue Service uses AMPCS (GDS S/W) to send FSW/SSE commands and check telemetry</a:t>
            </a:r>
          </a:p>
        </p:txBody>
      </p:sp>
    </p:spTree>
    <p:extLst>
      <p:ext uri="{BB962C8B-B14F-4D97-AF65-F5344CB8AC3E}">
        <p14:creationId xmlns:p14="http://schemas.microsoft.com/office/powerpoint/2010/main" val="237438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479"/>
    </mc:Choice>
    <mc:Fallback xmlns="">
      <p:transition spd="slow" advTm="6447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Ingenium Capabilities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09A056F3-D3DD-43E8-B900-530D486F6A92}"/>
              </a:ext>
            </a:extLst>
          </p:cNvPr>
          <p:cNvSpPr txBox="1">
            <a:spLocks/>
          </p:cNvSpPr>
          <p:nvPr/>
        </p:nvSpPr>
        <p:spPr>
          <a:xfrm>
            <a:off x="278091" y="1209790"/>
            <a:ext cx="4425884" cy="42657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600" u="sng" dirty="0">
                <a:solidFill>
                  <a:schemeClr val="tx1"/>
                </a:solidFill>
              </a:rPr>
              <a:t>Procedure Authoring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Pre-defined constructs (steps) to build procedures</a:t>
            </a:r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Command steps (FSW, SSE, File)</a:t>
            </a:r>
          </a:p>
          <a:p>
            <a:pPr lvl="1">
              <a:defRPr/>
            </a:pPr>
            <a:r>
              <a:rPr lang="en-US" sz="1400" b="0" dirty="0">
                <a:solidFill>
                  <a:schemeClr val="tx1"/>
                </a:solidFill>
              </a:rPr>
              <a:t>Telemetry steps (EVR, EHA, Bus 1553)</a:t>
            </a:r>
          </a:p>
          <a:p>
            <a:pPr lvl="1">
              <a:defRPr/>
            </a:pPr>
            <a:r>
              <a:rPr lang="en-US" sz="1400" dirty="0">
                <a:solidFill>
                  <a:schemeClr val="tx1"/>
                </a:solidFill>
              </a:rPr>
              <a:t>Manual steps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Custom Script Step to support project specific functions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FSW/SSE Dictionary Integration</a:t>
            </a:r>
          </a:p>
          <a:p>
            <a:pPr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V&amp;V Integration</a:t>
            </a:r>
          </a:p>
          <a:p>
            <a:pPr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Tagging Steps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Nested Procedures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Configuration Management</a:t>
            </a:r>
          </a:p>
          <a:p>
            <a:pPr>
              <a:defRPr/>
            </a:pPr>
            <a:endParaRPr lang="en-US" sz="1600" b="0" dirty="0">
              <a:solidFill>
                <a:schemeClr val="tx1"/>
              </a:solidFill>
            </a:endParaRPr>
          </a:p>
          <a:p>
            <a:pPr>
              <a:defRPr/>
            </a:pP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8E7804-6780-4D47-8C63-D21A37A84BF1}"/>
              </a:ext>
            </a:extLst>
          </p:cNvPr>
          <p:cNvSpPr txBox="1">
            <a:spLocks/>
          </p:cNvSpPr>
          <p:nvPr/>
        </p:nvSpPr>
        <p:spPr>
          <a:xfrm>
            <a:off x="4790201" y="1209790"/>
            <a:ext cx="3762376" cy="35886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600" u="sng" dirty="0">
                <a:solidFill>
                  <a:schemeClr val="tx1"/>
                </a:solidFill>
              </a:rPr>
              <a:t>Procedure Execution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Automatic/Manual Execution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Redline Approvals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Watch Live Execution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Suspend/resume execution</a:t>
            </a:r>
          </a:p>
          <a:p>
            <a:pPr marL="0" indent="0">
              <a:buNone/>
              <a:defRPr/>
            </a:pPr>
            <a:endParaRPr lang="en-US" sz="1600" u="sng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sz="1600" u="sng" dirty="0">
                <a:solidFill>
                  <a:schemeClr val="tx1"/>
                </a:solidFill>
              </a:rPr>
              <a:t>Review and V&amp;V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Procedure validation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Integrated Session Reports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V&amp;V Reports</a:t>
            </a:r>
          </a:p>
          <a:p>
            <a:pPr>
              <a:defRPr/>
            </a:pPr>
            <a:r>
              <a:rPr lang="en-US" sz="1600" b="0" dirty="0">
                <a:solidFill>
                  <a:schemeClr val="tx1"/>
                </a:solidFill>
              </a:rPr>
              <a:t>Migration of procedures and as-runs</a:t>
            </a:r>
          </a:p>
          <a:p>
            <a:pPr marL="0" indent="0">
              <a:buNone/>
              <a:defRPr/>
            </a:pPr>
            <a:endParaRPr lang="en-US" sz="16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47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446"/>
    </mc:Choice>
    <mc:Fallback xmlns="">
      <p:transition spd="slow" advTm="11544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Test Pattern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A5BAB8-C293-447C-942D-964B6BF7C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1" y="1092767"/>
            <a:ext cx="7350822" cy="53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1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623"/>
    </mc:Choice>
    <mc:Fallback xmlns="">
      <p:transition spd="slow" advTm="3862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to Flight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3340E1-9BBF-473A-8211-990DCFB6C5E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18" y="1183689"/>
            <a:ext cx="3879274" cy="3222810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3C2496-622E-49B7-BA42-22CC3B9184B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50" y="1139790"/>
            <a:ext cx="3879274" cy="3227031"/>
          </a:xfrm>
          <a:prstGeom prst="rect">
            <a:avLst/>
          </a:prstGeom>
          <a:noFill/>
        </p:spPr>
      </p:pic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C3284A32-D824-4F61-894C-70B1F389B98A}"/>
              </a:ext>
            </a:extLst>
          </p:cNvPr>
          <p:cNvSpPr txBox="1">
            <a:spLocks/>
          </p:cNvSpPr>
          <p:nvPr/>
        </p:nvSpPr>
        <p:spPr>
          <a:xfrm>
            <a:off x="325225" y="4354630"/>
            <a:ext cx="4246775" cy="200054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kumimoji="0" lang="en-US" sz="140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Psyche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More than 700 procedures released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Close to 12,000 executions (hardware and simulator venues)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About 2500 run-for-record executions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During peak</a:t>
            </a:r>
          </a:p>
          <a:p>
            <a:pPr lvl="1">
              <a:defRPr/>
            </a:pPr>
            <a:r>
              <a:rPr lang="en-US" sz="1200" dirty="0">
                <a:solidFill>
                  <a:schemeClr val="tx1"/>
                </a:solidFill>
              </a:rPr>
              <a:t>About 20 executions per day in testbed instance</a:t>
            </a:r>
          </a:p>
          <a:p>
            <a:pPr lvl="1">
              <a:defRPr/>
            </a:pPr>
            <a:r>
              <a:rPr lang="en-US" sz="1200" dirty="0">
                <a:solidFill>
                  <a:schemeClr val="tx1"/>
                </a:solidFill>
              </a:rPr>
              <a:t>About 6 executions per day in ATLO instance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CD28E0EB-3707-4496-95A4-5262EF7F12ED}"/>
              </a:ext>
            </a:extLst>
          </p:cNvPr>
          <p:cNvSpPr txBox="1">
            <a:spLocks/>
          </p:cNvSpPr>
          <p:nvPr/>
        </p:nvSpPr>
        <p:spPr>
          <a:xfrm>
            <a:off x="4652199" y="4354630"/>
            <a:ext cx="4246775" cy="200054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kumimoji="0" lang="en-US" sz="140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Europa Clipper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More than 800 procedures released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More than 7,200 executions (hardware and simulator venues)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About 1900 run-for-record executions</a:t>
            </a:r>
          </a:p>
          <a:p>
            <a:pPr>
              <a:defRPr/>
            </a:pPr>
            <a:r>
              <a:rPr lang="en-US" sz="1400" b="0" dirty="0">
                <a:solidFill>
                  <a:schemeClr val="tx1"/>
                </a:solidFill>
              </a:rPr>
              <a:t>During recent months</a:t>
            </a:r>
          </a:p>
          <a:p>
            <a:pPr lvl="1">
              <a:defRPr/>
            </a:pPr>
            <a:r>
              <a:rPr lang="en-US" sz="1200" dirty="0">
                <a:solidFill>
                  <a:schemeClr val="tx1"/>
                </a:solidFill>
              </a:rPr>
              <a:t>About 25 executions per day in testbed instance</a:t>
            </a:r>
          </a:p>
          <a:p>
            <a:pPr lvl="1">
              <a:defRPr/>
            </a:pPr>
            <a:r>
              <a:rPr lang="en-US" sz="1200" dirty="0">
                <a:solidFill>
                  <a:schemeClr val="tx1"/>
                </a:solidFill>
              </a:rPr>
              <a:t>About 2 executions per day in ATLO instance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63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94"/>
    </mc:Choice>
    <mc:Fallback xmlns="">
      <p:transition spd="slow" advTm="4059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to Testbed and ATLO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C3284A32-D824-4F61-894C-70B1F389B98A}"/>
              </a:ext>
            </a:extLst>
          </p:cNvPr>
          <p:cNvSpPr txBox="1">
            <a:spLocks/>
          </p:cNvSpPr>
          <p:nvPr/>
        </p:nvSpPr>
        <p:spPr>
          <a:xfrm>
            <a:off x="358219" y="1395843"/>
            <a:ext cx="8328581" cy="311469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Lowered the entry barriers to I&amp;T and V&amp;V for new engineers.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Test procedures are standardized.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Procedures are more easily reviewed and reused.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Experience of Psyche ATLO</a:t>
            </a:r>
          </a:p>
          <a:p>
            <a:pPr lvl="1">
              <a:defRPr/>
            </a:pPr>
            <a:r>
              <a:rPr lang="en-US" sz="1600" b="0" dirty="0">
                <a:solidFill>
                  <a:schemeClr val="tx1"/>
                </a:solidFill>
              </a:rPr>
              <a:t>ATLO team is executing procedures in a much more efficient way than they did in the past</a:t>
            </a:r>
          </a:p>
          <a:p>
            <a:pPr lvl="1">
              <a:defRPr/>
            </a:pPr>
            <a:r>
              <a:rPr lang="en-US" sz="1600" dirty="0">
                <a:solidFill>
                  <a:schemeClr val="tx1"/>
                </a:solidFill>
              </a:rPr>
              <a:t>Could operate with less number of personnel</a:t>
            </a:r>
          </a:p>
          <a:p>
            <a:pPr lvl="1">
              <a:defRPr/>
            </a:pPr>
            <a:r>
              <a:rPr lang="en-US" sz="1600" dirty="0">
                <a:solidFill>
                  <a:schemeClr val="tx1"/>
                </a:solidFill>
              </a:rPr>
              <a:t>Ingenium lets test engineers pay more attention to the test contents instead of time-consuming and error-prone manual checks.</a:t>
            </a:r>
            <a:endParaRPr lang="en-US" sz="1600" b="0" dirty="0">
              <a:solidFill>
                <a:schemeClr val="tx1"/>
              </a:solidFill>
            </a:endParaRPr>
          </a:p>
          <a:p>
            <a:pPr>
              <a:defRPr/>
            </a:pP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5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911"/>
    </mc:Choice>
    <mc:Fallback xmlns="">
      <p:transition spd="slow" advTm="5591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C3284A32-D824-4F61-894C-70B1F389B98A}"/>
              </a:ext>
            </a:extLst>
          </p:cNvPr>
          <p:cNvSpPr txBox="1">
            <a:spLocks/>
          </p:cNvSpPr>
          <p:nvPr/>
        </p:nvSpPr>
        <p:spPr>
          <a:xfrm>
            <a:off x="358219" y="1395843"/>
            <a:ext cx="8328581" cy="283154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Europa Clipper is planning to use Ingenium for its operational procedures. </a:t>
            </a:r>
          </a:p>
          <a:p>
            <a:pPr lvl="1">
              <a:defRPr/>
            </a:pPr>
            <a:r>
              <a:rPr lang="en-US" sz="1600" b="0" dirty="0">
                <a:solidFill>
                  <a:schemeClr val="tx1"/>
                </a:solidFill>
              </a:rPr>
              <a:t>Procedure developments have started.</a:t>
            </a:r>
          </a:p>
          <a:p>
            <a:pPr lvl="1">
              <a:defRPr/>
            </a:pPr>
            <a:r>
              <a:rPr lang="en-US" sz="1600" dirty="0">
                <a:solidFill>
                  <a:schemeClr val="tx1"/>
                </a:solidFill>
              </a:rPr>
              <a:t>Test procedures and operational procedures are executed in the same way. Another example of “Test As You Fly (FAYF)”</a:t>
            </a:r>
            <a:endParaRPr lang="en-US" sz="1600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Sample Return Lander (SRL) is planning to use Ingenium </a:t>
            </a:r>
          </a:p>
          <a:p>
            <a:pPr lvl="1">
              <a:defRPr/>
            </a:pPr>
            <a:r>
              <a:rPr lang="en-US" sz="1600" dirty="0">
                <a:solidFill>
                  <a:schemeClr val="tx1"/>
                </a:solidFill>
              </a:rPr>
              <a:t>T</a:t>
            </a:r>
            <a:r>
              <a:rPr lang="en-US" sz="1600" b="0" dirty="0">
                <a:solidFill>
                  <a:schemeClr val="tx1"/>
                </a:solidFill>
              </a:rPr>
              <a:t>estbeds and ATLO</a:t>
            </a:r>
          </a:p>
          <a:p>
            <a:pPr lvl="1">
              <a:defRPr/>
            </a:pPr>
            <a:r>
              <a:rPr lang="en-US" sz="1600" dirty="0">
                <a:solidFill>
                  <a:schemeClr val="tx1"/>
                </a:solidFill>
              </a:rPr>
              <a:t>Also Interested in using Ingenium for sub-system level tests.</a:t>
            </a:r>
          </a:p>
          <a:p>
            <a:pPr marL="0" indent="0">
              <a:buNone/>
              <a:defRPr/>
            </a:pPr>
            <a:endParaRPr lang="en-US" sz="1800" b="0" dirty="0">
              <a:solidFill>
                <a:schemeClr val="tx1"/>
              </a:solidFill>
            </a:endParaRPr>
          </a:p>
          <a:p>
            <a:pPr>
              <a:defRPr/>
            </a:pP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39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83"/>
    </mc:Choice>
    <mc:Fallback xmlns="">
      <p:transition spd="slow" advTm="4868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021-6D86-44C3-A10A-A91E1DC1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9317-EA07-4869-93E9-4F31E12E1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43E42-F006-4530-B80D-0D766512271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08614E-6C62-4D67-915C-43E35F4C718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2BB52-EF4B-478E-8F3B-F811CC6FEDC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8A7F9-C3D3-411B-8B31-8724018FE7B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C3284A32-D824-4F61-894C-70B1F389B98A}"/>
              </a:ext>
            </a:extLst>
          </p:cNvPr>
          <p:cNvSpPr txBox="1">
            <a:spLocks/>
          </p:cNvSpPr>
          <p:nvPr/>
        </p:nvSpPr>
        <p:spPr>
          <a:xfrm>
            <a:off x="358219" y="1395843"/>
            <a:ext cx="8328581" cy="363791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31775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1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1pPr>
            <a:lvl2pPr marL="454025" indent="-2222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2pPr>
            <a:lvl3pPr marL="685800" indent="-231775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3pPr>
            <a:lvl4pPr marL="917575" indent="-231775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4pPr>
            <a:lvl5pPr marL="1139825" indent="-22225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000090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Ingenium is a solution that supports the entire lifecycle of test procedures of JPL flight projects. 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It combines the advantages of paper procedures (flexibility and human friendliness) and scripted procedures (rigor and speed).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Ingenium has been used successfully by Psyche and Europa Clipper testbed and ATLO teams. So far, more than 1,500 procedures were released in Ingenium, and more than 4,500 run-for-record executions have been completed.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The procedure and as-run repository of Ingenium already has wealth of data, which can be queried through its API for data mining.</a:t>
            </a:r>
          </a:p>
          <a:p>
            <a:pPr>
              <a:defRPr/>
            </a:pPr>
            <a:r>
              <a:rPr lang="en-US" sz="1800" b="0" dirty="0">
                <a:solidFill>
                  <a:schemeClr val="tx1"/>
                </a:solidFill>
              </a:rPr>
              <a:t>Development of Ingenium is on-going, keeping up with new requirements and use cases as it is heavily used by JPL flight projects.</a:t>
            </a:r>
          </a:p>
        </p:txBody>
      </p:sp>
    </p:spTree>
    <p:extLst>
      <p:ext uri="{BB962C8B-B14F-4D97-AF65-F5344CB8AC3E}">
        <p14:creationId xmlns:p14="http://schemas.microsoft.com/office/powerpoint/2010/main" val="163312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596"/>
    </mc:Choice>
    <mc:Fallback xmlns="">
      <p:transition spd="slow" advTm="435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1613-823F-4EDA-8DD2-7D8A4573BB74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This document has been reviewed and determined not to contain export controlled technical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8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37"/>
    </mc:Choice>
    <mc:Fallback xmlns="">
      <p:transition spd="slow" advTm="523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329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0&quot;/&gt;&lt;/object&gt;&lt;object type=&quot;3&quot; unique_id=&quot;10006&quot;&gt;&lt;property id=&quot;20148&quot; value=&quot;5&quot;/&gt;&lt;property id=&quot;20300&quot; value=&quot;Slide 4&quot;/&gt;&lt;property id=&quot;20307&quot; value=&quot;331&quot;/&gt;&lt;/object&gt;&lt;/object&gt;&lt;object type=&quot;8&quot; unique_id=&quot;10012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ASAjpl-WhiteTheme-4x3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ASAjpl-BlackTheme-4x3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91440" tIns="45720" rIns="91440" bIns="45720" rtlCol="0">
        <a:no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30465</TotalTime>
  <Words>941</Words>
  <Application>Microsoft Office PowerPoint</Application>
  <PresentationFormat>On-screen Show (4:3)</PresentationFormat>
  <Paragraphs>139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NASAjpl-WhiteTheme-4x3-vA6</vt:lpstr>
      <vt:lpstr>NASAjpl-BlackTheme-4x3-vA6</vt:lpstr>
      <vt:lpstr>PowerPoint Presentation</vt:lpstr>
      <vt:lpstr>Test Procedures for I&amp;T and V&amp;V Campaigns</vt:lpstr>
      <vt:lpstr>Motivations</vt:lpstr>
      <vt:lpstr>E-Procedure Approach</vt:lpstr>
      <vt:lpstr>Ingenium</vt:lpstr>
      <vt:lpstr>Ingenium S/W Architecture</vt:lpstr>
      <vt:lpstr>Ingenium Capabilities</vt:lpstr>
      <vt:lpstr>Common Test Pattern</vt:lpstr>
      <vt:lpstr>Application to Flight Projects</vt:lpstr>
      <vt:lpstr>Impact to Testbed and ATLO Operations</vt:lpstr>
      <vt:lpstr>Future Applications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Carolyn M Stolze</dc:creator>
  <cp:lastModifiedBy>Kim, Hongman (US 312C)</cp:lastModifiedBy>
  <cp:revision>332</cp:revision>
  <cp:lastPrinted>2016-07-26T23:14:33Z</cp:lastPrinted>
  <dcterms:created xsi:type="dcterms:W3CDTF">2016-06-29T01:27:10Z</dcterms:created>
  <dcterms:modified xsi:type="dcterms:W3CDTF">2023-01-27T11:34:39Z</dcterms:modified>
</cp:coreProperties>
</file>